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6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9.svg" ContentType="image/svg+xml"/>
  <Override PartName="/ppt/media/image6.svg" ContentType="image/svg+xml"/>
  <Override PartName="/ppt/media/image62.svg" ContentType="image/svg+xml"/>
  <Override PartName="/ppt/media/image65.svg" ContentType="image/svg+xml"/>
  <Override PartName="/ppt/media/image6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9.svg" ContentType="image/svg+xml"/>
  <Override PartName="/ppt/media/image91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的项目是“基于深度学习的作文自动评分系统”。本项目旨在解决传统作文评分耗时、主观性强，以及在线评分依赖网络、存在隐私风险等痛点。我们成功构建了一个将BERT模型部署在Android设备上，实现完全离线推理的应用，为用户提供便捷、安全的作文评估服务。接下来，我将详细介绍我们的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以下八个方面展开：首先是项目概述，阐述我们的核心创新；其次是系统总体架构和核心模型设计；接着是数据集、训练过程和模型性能评估；然后是我们采用的Android技术栈和实现的功能模块；之后，我们会重点分享遇到的核心技术挑战及其解决方案；最后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项目概述。传统的作文评分方式效率低下且主观，而现有的在线评分系统又依赖网络，存在隐私泄露的风险。为了解决这些痛点，我们开发了一个作文自动评分系统。我们最大的创新，就是把强大的BERT模型部署到了手机端，实现了完全离线的评分。这意味着用户可以随时随地、安全地使用我们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我们的系统有五大核心亮点。首先是“完全离线，隐私无忧”，所有计算都在本地完成，保证了用户的数据安全。其次是“中英双语，一机多能”，系统能自动识别语言并调用相应模型，满足了双语学习的需求。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我们提供“多维度反馈”，通过雷达图直观展示作文在内容、结构、语言上的表现，帮助用户精准定位问题。第四，支持“批量处理”，方便教师高效批改作业。最后，我们采用了现代化的UI设计，保证了流畅的用户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接下来介绍系统架构。我们采用了经典的三层架构。最上层是展示层，使用Jetpack Compose构建UI。中间是业务逻辑层，负责处理评分、分词等核心逻辑。最底层是推理引擎层，基于PyTorch Mobile，负责加载和运行我们的BERT模型，这也是实现离线功能的关键。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具体来说，展示层使用Jetpack Compose和Material Design 3来构建美观流畅的UI。业务逻辑层封装了评分、分词等逻辑，并通过协程保证了UI的流畅。而推理引擎层则是技术核心，它基于PyTorch Mobile，负责加载和运行模型，实现了完全离线的推理。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面来看我们的核心模型架构。我们的模型基于BERT，流程是输入文本经过分词后，送入冻结的BERT编码器，提取token的语义向量，最后通过一个轻量级的回归头输出分数。我们选择了bert-base-uncased和bert-base-chinese作为基础模型，并采用了冻结BERT、只训练头部的策略，这大大提高了训练效率和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高质量的数据是模型性能的基石。我们使用了国际公开的ASAP数据集作为英文模型的训练数据，它包含了近13000篇学生作文。对于中文模型，由于缺乏公开数据集，我们将部分英文数据翻译成中文进行训练。我们采用AdamW优化器，MSE损失函数，并设置了早停策略来防止过拟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使用权威的QWK指标来评估模型性能。从结果来看，英文模型的QWK达到了0.58，这在跨题目泛化任务中是一个非常不错的成绩。中文模型由于数据同质性较高，QWK达到了0.79，表现出很强的评分能力。两个模型的大小都在400MB左右，对于现代手机来说完全不成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我们的Android应用采用了当前最先进的技术栈。编程语言使用Kotlin，UI框架是Jetpack Compose搭配Material Design 3，推理引擎是PyTorch Mobile，异步处理则通过Kotlin Coroutines实现。这套组合拳保证了应用的高性能和现代化体验。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App主要包含四个功能模块：单篇评分，用户可以输入作文并获得详细反馈；批量评分，方便老师处理大量作业；中英对比，可以直观比较同一内容在不同语言模型下的评分差异；以及设置中心，用于管理模型状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这是我们App的一些功能展示。左边这张图展示了单篇评分的界面，用户可以看到总分和雷达图形式的多维度反馈。我们使用Jetpack Compose和Canvas来实现这些动态效果。批量评分功能则允许用户导入CSV文件，系统会自动完成评分并展示结果列表，大大提升了效率。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接下来是本项目的重点，我们遇到的核心技术挑战及解决方案。首先，我们解决了AGP版本兼容问题，通过显式指定Build Tools版本解决了同步失败。其次，针对PyTorch Lite库的闪退问题，我们改用了完整版本。最关键的是模型算子不兼容问题，我们通过强制BERT使用eager模式的注意力机制解决了移动端不支持SDPA算子的难题。最后，我们包装了模型接口，简化了移动端的调用。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还解决了大文件加载的可靠性问题，通过原子化写入策略保证了模型文件的完整性。针对ABI兼容问题，我们指定只构建ARM架构的SO文件。最后，通过配置国内镜像源，解决了网络限制导致的依赖库同步问题。这些问题的解决，展现了我们扎实的软件工程实践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将模型部署到移动端需要一套严谨的流程。首先，准备好训练好的模型。然后，重建模型并强制使用eager模式的注意力。接着，包装模型接口，并通过TorchScript将其转换为`.pt`文件。之后验证算子，将文件集成到Android项目中，最后构建APK并在真机上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我们的项目文件结构清晰合理。Android_HomeworkScore目录是移动端应用，models和data目录分别存放模型和数据，根目录下的Python脚本负责模型训练。这种结构将移动端开发和模型开发分离开，便于团队协作。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初期，我们也开发了Web版本。通过对比可以看到，Web版依赖服务器和网络，而我们的Android版则实现了完全离线，这带来了无与伦比的隐私安全和随时随地可用的核心优势。虽然Web版开发快，但Android版的用户体验和部署方式更具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清醒地认识到项目的局限性。例如，中文模型的数据质量有待提高，英文模型的性能还有提升空间，维度评分目前还是启发式的，模型体积过大，且无法处理长文本。针对这些问题，我们规划了明确的改进方向，包括采集真实数据、尝试更先进的模型、应用模型量化技术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进行总结。在本项目中，我们成功构建并训练了评分模型，实现了移动端的离线部署，并开发了完整的功能模块。我们解决了一系列工程挑战，展现了扎实的工程能力。展望未来，我们将继续优化模型、增强数据、深化功能，并计划最终将应用发布到应用商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感谢各位老师的聆听。在此，我们要特别感谢我们的指导老师，以及团队每一位成员的努力。我的汇报到此结束，欢迎各位老师提问。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1.svg"/><Relationship Id="rId7" Type="http://schemas.openxmlformats.org/officeDocument/2006/relationships/image" Target="../media/image40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7.jpe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jpeg"/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54.png"/><Relationship Id="rId7" Type="http://schemas.openxmlformats.org/officeDocument/2006/relationships/image" Target="../media/image53.svg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55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14.svg"/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64.png"/><Relationship Id="rId7" Type="http://schemas.openxmlformats.org/officeDocument/2006/relationships/image" Target="../media/image22.svg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3" Type="http://schemas.openxmlformats.org/officeDocument/2006/relationships/image" Target="../media/image30.svg"/><Relationship Id="rId2" Type="http://schemas.openxmlformats.org/officeDocument/2006/relationships/image" Target="../media/image60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0.svg"/><Relationship Id="rId6" Type="http://schemas.openxmlformats.org/officeDocument/2006/relationships/image" Target="../media/image69.png"/><Relationship Id="rId5" Type="http://schemas.openxmlformats.org/officeDocument/2006/relationships/image" Target="../media/image6.svg"/><Relationship Id="rId4" Type="http://schemas.openxmlformats.org/officeDocument/2006/relationships/image" Target="../media/image68.png"/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svg"/><Relationship Id="rId8" Type="http://schemas.openxmlformats.org/officeDocument/2006/relationships/image" Target="../media/image66.png"/><Relationship Id="rId7" Type="http://schemas.openxmlformats.org/officeDocument/2006/relationships/image" Target="../media/image74.svg"/><Relationship Id="rId6" Type="http://schemas.openxmlformats.org/officeDocument/2006/relationships/image" Target="../media/image73.png"/><Relationship Id="rId5" Type="http://schemas.openxmlformats.org/officeDocument/2006/relationships/image" Target="../media/image30.svg"/><Relationship Id="rId4" Type="http://schemas.openxmlformats.org/officeDocument/2006/relationships/image" Target="../media/image60.png"/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9" Type="http://schemas.openxmlformats.org/officeDocument/2006/relationships/notesSlide" Target="../notesSlides/notesSlide17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41.svg"/><Relationship Id="rId16" Type="http://schemas.openxmlformats.org/officeDocument/2006/relationships/image" Target="../media/image40.png"/><Relationship Id="rId15" Type="http://schemas.openxmlformats.org/officeDocument/2006/relationships/image" Target="../media/image80.svg"/><Relationship Id="rId14" Type="http://schemas.openxmlformats.org/officeDocument/2006/relationships/image" Target="../media/image79.png"/><Relationship Id="rId13" Type="http://schemas.openxmlformats.org/officeDocument/2006/relationships/image" Target="../media/image78.svg"/><Relationship Id="rId12" Type="http://schemas.openxmlformats.org/officeDocument/2006/relationships/image" Target="../media/image77.png"/><Relationship Id="rId11" Type="http://schemas.openxmlformats.org/officeDocument/2006/relationships/image" Target="../media/image76.svg"/><Relationship Id="rId10" Type="http://schemas.openxmlformats.org/officeDocument/2006/relationships/image" Target="../media/image75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4.svg"/><Relationship Id="rId6" Type="http://schemas.openxmlformats.org/officeDocument/2006/relationships/image" Target="../media/image83.png"/><Relationship Id="rId5" Type="http://schemas.openxmlformats.org/officeDocument/2006/relationships/image" Target="../media/image82.svg"/><Relationship Id="rId4" Type="http://schemas.openxmlformats.org/officeDocument/2006/relationships/image" Target="../media/image81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9.svg"/><Relationship Id="rId5" Type="http://schemas.openxmlformats.org/officeDocument/2006/relationships/image" Target="../media/image88.png"/><Relationship Id="rId4" Type="http://schemas.openxmlformats.org/officeDocument/2006/relationships/image" Target="../media/image87.jpeg"/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svg"/><Relationship Id="rId8" Type="http://schemas.openxmlformats.org/officeDocument/2006/relationships/image" Target="../media/image95.png"/><Relationship Id="rId7" Type="http://schemas.openxmlformats.org/officeDocument/2006/relationships/image" Target="../media/image94.svg"/><Relationship Id="rId6" Type="http://schemas.openxmlformats.org/officeDocument/2006/relationships/image" Target="../media/image93.png"/><Relationship Id="rId5" Type="http://schemas.openxmlformats.org/officeDocument/2006/relationships/image" Target="../media/image32.svg"/><Relationship Id="rId4" Type="http://schemas.openxmlformats.org/officeDocument/2006/relationships/image" Target="../media/image92.png"/><Relationship Id="rId3" Type="http://schemas.openxmlformats.org/officeDocument/2006/relationships/image" Target="../media/image91.svg"/><Relationship Id="rId2" Type="http://schemas.openxmlformats.org/officeDocument/2006/relationships/image" Target="../media/image90.png"/><Relationship Id="rId13" Type="http://schemas.openxmlformats.org/officeDocument/2006/relationships/notesSlide" Target="../notesSlides/notesSlide2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98.svg"/><Relationship Id="rId10" Type="http://schemas.openxmlformats.org/officeDocument/2006/relationships/image" Target="../media/image97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svg"/><Relationship Id="rId8" Type="http://schemas.openxmlformats.org/officeDocument/2006/relationships/image" Target="../media/image101.png"/><Relationship Id="rId7" Type="http://schemas.openxmlformats.org/officeDocument/2006/relationships/image" Target="../media/image100.svg"/><Relationship Id="rId6" Type="http://schemas.openxmlformats.org/officeDocument/2006/relationships/image" Target="../media/image99.png"/><Relationship Id="rId5" Type="http://schemas.openxmlformats.org/officeDocument/2006/relationships/image" Target="../media/image6.svg"/><Relationship Id="rId4" Type="http://schemas.openxmlformats.org/officeDocument/2006/relationships/image" Target="../media/image68.png"/><Relationship Id="rId3" Type="http://schemas.openxmlformats.org/officeDocument/2006/relationships/image" Target="../media/image22.svg"/><Relationship Id="rId2" Type="http://schemas.openxmlformats.org/officeDocument/2006/relationships/image" Target="../media/image63.png"/><Relationship Id="rId17" Type="http://schemas.openxmlformats.org/officeDocument/2006/relationships/notesSlide" Target="../notesSlides/notesSlide21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08.svg"/><Relationship Id="rId14" Type="http://schemas.openxmlformats.org/officeDocument/2006/relationships/image" Target="../media/image107.png"/><Relationship Id="rId13" Type="http://schemas.openxmlformats.org/officeDocument/2006/relationships/image" Target="../media/image106.svg"/><Relationship Id="rId12" Type="http://schemas.openxmlformats.org/officeDocument/2006/relationships/image" Target="../media/image105.png"/><Relationship Id="rId11" Type="http://schemas.openxmlformats.org/officeDocument/2006/relationships/image" Target="../media/image104.svg"/><Relationship Id="rId10" Type="http://schemas.openxmlformats.org/officeDocument/2006/relationships/image" Target="../media/image103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5.svg"/><Relationship Id="rId6" Type="http://schemas.openxmlformats.org/officeDocument/2006/relationships/image" Target="../media/image114.png"/><Relationship Id="rId5" Type="http://schemas.openxmlformats.org/officeDocument/2006/relationships/image" Target="../media/image113.svg"/><Relationship Id="rId4" Type="http://schemas.openxmlformats.org/officeDocument/2006/relationships/image" Target="../media/image112.png"/><Relationship Id="rId3" Type="http://schemas.openxmlformats.org/officeDocument/2006/relationships/image" Target="../media/image111.svg"/><Relationship Id="rId2" Type="http://schemas.openxmlformats.org/officeDocument/2006/relationships/image" Target="../media/image110.png"/><Relationship Id="rId1" Type="http://schemas.openxmlformats.org/officeDocument/2006/relationships/image" Target="../media/image10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" y="2286000"/>
            <a:ext cx="1097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基于深度学习的作文自动评分系统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556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中英文双语 BERT 模型 + Android 离线推理，构建高效、安全、隐私保护的作文评估方案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4699000"/>
            <a:ext cx="1270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1397000"/>
          </a:xfrm>
          <a:prstGeom prst="roundRect">
            <a:avLst>
              <a:gd name="adj" fmla="val 0"/>
            </a:avLst>
          </a:prstGeom>
          <a:solidFill>
            <a:srgbClr val="000000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600" y="56515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09600" y="5651500"/>
            <a:ext cx="508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12800" y="571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项目团队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工程实践第六小组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29000" y="56515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429000" y="5651500"/>
            <a:ext cx="508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632200" y="571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翟建芳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48400" y="56515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48400" y="5651500"/>
            <a:ext cx="508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51600" y="571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所属单位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软件学院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67800" y="56515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67800" y="5651500"/>
            <a:ext cx="508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271000" y="571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2026年6月22日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461000" y="4432300"/>
            <a:ext cx="12827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汇报人：王健康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DE80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0066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将BERT模型从云端带入掌心，探索端侧部署的核心价值与应用场景，阐述项目的创新初衷与实践意义。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17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32385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05000" y="32766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采用模块化分层设计，实现业务层、模型层与交互层的解耦，确保系统结构清晰、职责分明且易于扩展。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254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42545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43180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43561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基于BERT架构进行轻量化裁剪与适配，针对端侧硬件特性优化网络结构，在保证效果的同时提升推理效率。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33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3975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905000" y="54356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数据与训练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构建高质量、多场景的训练数据集，采用严谨的预训练与微调策略，确保模型在真实场景下的泛化能力。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350000" y="1905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350000" y="190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604000" y="19685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93000" y="20066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性能评估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通过BLEU、Perplexity等权威指标，结合端侧推理速度与内存占用，全方位量化模型的综合表现与优势。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0" y="3175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350000" y="317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04000" y="32385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493000" y="32766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技术栈与功能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基于Android原生技术栈，结合TensorFlow Lite部署模型，实现流畅的交互界面与高效的端侧AI功能落地。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350000" y="4254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350000" y="42545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604000" y="43180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493000" y="43561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挑战与解决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攻克端侧算力不足、模型体积过大等核心工程难题，通过量化、剪枝等技术手段实现模型的高效部署。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350000" y="533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350000" y="533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604000" y="5397500"/>
            <a:ext cx="63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493000" y="54356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回顾项目成果与关键技术突破，分析当前局限，并对端侧NLP技术的未来发展方向与应用场景进行规划。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项目概述：将BERT模型从云端带入掌心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40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540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传统模式的痛点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556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传统人工评分不仅耗时费力、标准主观，现有的在线评分系统还高度依赖网络环境，用户作文数据上云存在隐私泄露的安全隐患，难以兼顾效率与安全。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286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540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540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BERT模型端侧部署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35500" y="3556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成功构建基于深度学习的作文自动评分系统(AES)，核心突破在于将BERT预训练语言模型从云端迁移至Android移动端，实现了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完全离线的本地推理能力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，摆脱服务器依赖。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540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26500" y="2540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便捷与安全的统一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946">
            <a:off x="8255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255000" y="3556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用户无需联网即可在手机端快速获取多维度的作文评分与反馈建议。本地处理确保数据留存于设备内，极大提升了使用场景的灵活性，筑牢了用户数据的安全防线。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6070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总结：通过端侧AI技术，打破云端服务的限制，让高质量的智能教育服务触手可及，兼顾效率、公平与隐私安全。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核心价值与亮点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133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完全离线，隐私无忧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模型文件约400MB打包集成，首次启动即加载至本地存储。全链路推理过程在设备端闭环完成，无需任何云端通信，从底层架构杜绝数据外传。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167">
            <a:off x="1016008" y="4438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4635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用户价值：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确保作文内容绝对私密，规避云端泄露风险。同时打破网络环境限制，在飞行模式、偏远地区等无网场景下，依然能稳定提供完整的作文评估服务。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1905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2133600"/>
            <a:ext cx="419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中英双语，一机多能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5405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3048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内置双BERT模型架构，分别适配中英文语义特征；系统搭载高精度语言检测器，可自动识别输入文本语种，并智能调度对应模型进行独立评分与分析。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167">
            <a:off x="6540508" y="4438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540500" y="4635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用户价值：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兼顾中英文作文教学与练习场景，为用户提供统一、高效的双语评估工具。无需切换应用即可完成多语言内容的智能批改，大幅提升学习与教学效率。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842000"/>
            <a:ext cx="107950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9690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通过本地私有化部署与多语言模型融合，我们为用户构建了安全、便捷且功能完备的智能作文评估环境。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核心价值与亮点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349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3241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多维度反馈，洞察短板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566">
            <a:off x="952513" y="3041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2385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基于启发式规则将总分拆解为内容、结构、语言三大维度，通过雷达图可视化呈现，让能力模型清晰可见。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566">
            <a:off x="952513" y="4565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4762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用户价值：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帮助用户精准定位写作优劣项，告别笼统评分，为针对性提升提供科学、明确的改进方向。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069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069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2349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05400" y="23241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批量处理，高效便捷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566">
            <a:off x="4597413" y="3041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97400" y="32385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支持CSV文件导入，系统自动完成多篇作文的并行评分与结果结构化输出，提供清晰的对比分析列表。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566">
            <a:off x="4597413" y="4565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597400" y="4762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用户价值：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大幅降低教师与培训机构的作业批改负荷，将重复劳动自动化，显著提升教学与管理的工作效率。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518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518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300" y="2349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750300" y="23241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现代化UI，体验流畅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566">
            <a:off x="8242313" y="3041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242300" y="3238500"/>
            <a:ext cx="2997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基于Jetpack Compose与Material Design 3构建，实现全端响应式布局，搭配流畅过渡动画与直觉式交互。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566">
            <a:off x="8242313" y="4565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242300" y="4762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用户价值：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提供媲美主流商业应用的视觉与操作体验，界面美观简洁，降低学习成本，让写作训练过程更愉悦。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52500" y="60706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以技术赋能教育，通过多维洞察、批量提效与优质体验，构建科学高效的作文训练闭环。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本系统采用经典的三层架构设计，层次清晰，职责分明，有效实现了系统的高内聚、低耦合特性，同时保障了模型推理的实时性与系统的可维护性，为用户提供流畅的离线体验。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展示层 (Presentation Layer)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Jetpack Compose 构建响应式 UI，结合 Material 3 统一设计语言，利用 Canvas 实现雷达图等数据可视化效果，提升交互体验。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572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作为用户交互的直接入口，该层负责处理所有 UI 渲染、手势响应、应用状态管理，并将底层数据以直观的可视化形式呈现给用户。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2540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2540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355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业务逻辑层 (Business Logic Layer)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6355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 AESPredictor 评分核心、BertTokenizer 文本预处理模块及 LanguageDetector 中英双语识别器，驱动业务流转。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4572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作为系统的“大脑”，该层通过协程异步调度推理任务，完成文本清洗、语言检测，封装复杂业务逻辑，实现展示与数据处理的完全解耦。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2540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2540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185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推理引擎层 (Inference Engine Layer)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3185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185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PyTorch Mobile 2.1.0 框架，加载 415MB 的 BERT-base 预训练模型权重，提供高性能端侧推理能力。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18500" y="4572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负责模型的加载、张量转换与前向传播计算，所有推理过程均在本地离线完成，确保了用户数据隐私安全与毫秒级的响应速度。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969000"/>
            <a:ext cx="10795000" cy="508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2500" y="60452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架构优势总结：三层解耦设计确保系统易维护、易扩展，离线推理引擎保障数据安全，全链路异步化提升用户操作流畅度。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844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展示层 (Android UI)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048000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Jetpack Compose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声明式框架构建，结合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Material Design 3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实现现代化、一致性的交互界面。利用 Canvas 绘制多维度雷达图，将抽象评分数据转化为直观的视觉图表，为用户提供流畅、美观的操作体验。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222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21844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业务逻辑层 (Core)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3048000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封装核心业务逻辑，通过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AESPredictor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管理模型状态，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BertTokenizer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处理文本序列化，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LanguageDetector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实现中英双语自动切换。利用 Kotlin Coroutines 进行后台异步计算，确保主线程无阻塞，保障 UI 响应流畅。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905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222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1844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推理引擎层 (PyTorch)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3048000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PyTorch Mobile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构建移动端深度学习推理核心，负责加载预训练的 .pt 模型文件，接收业务层张量输入并执行前向计算，输出最终评分结果。该层完全离线运行，不依赖外部网络服务，确保数据处理的高效与安全。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" y="5943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分层架构设计实现了展示、逻辑与核心引擎的解耦，既保证了开发的模块化与可维护性，也为模型迭代和功能扩展提供了灵活的空间。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核心模型架构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我们的评分模型基于业界领先的BERT预训练语言模型，通过精巧的架构设计，在保证评分准确性的同时，兼顾了移动端部署的效率。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730500"/>
            <a:ext cx="15875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819400"/>
            <a:ext cx="1587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Input Text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原始输入文本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171744">
            <a:off x="2667159" y="3105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9" name="AutoShape 9"/>
          <p:cNvSpPr/>
          <p:nvPr/>
        </p:nvSpPr>
        <p:spPr>
          <a:xfrm>
            <a:off x="3048000" y="2730500"/>
            <a:ext cx="15875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048000" y="2819400"/>
            <a:ext cx="1587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Tokenization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文本分词处理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71744">
            <a:off x="4762659" y="3105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2" name="AutoShape 12"/>
          <p:cNvSpPr/>
          <p:nvPr/>
        </p:nvSpPr>
        <p:spPr>
          <a:xfrm>
            <a:off x="5143500" y="2730500"/>
            <a:ext cx="22860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25000"/>
            </a:srgbClr>
          </a:solidFill>
          <a:ln w="12700" cap="flat" cmpd="sng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143500" y="2819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BERT Encoder (Frozen)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提取[CLS]向量特征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171744">
            <a:off x="7556659" y="31051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A3AF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5" name="AutoShape 15"/>
          <p:cNvSpPr/>
          <p:nvPr/>
        </p:nvSpPr>
        <p:spPr>
          <a:xfrm>
            <a:off x="7937500" y="2730500"/>
            <a:ext cx="32385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ap="flat" cmpd="sng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937500" y="2819400"/>
            <a:ext cx="3238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Regression Head → Final Score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轻量级回归头映射至最终评分区间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381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34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基础模型选型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952513" y="488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952500" y="508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选用轻量级BERT基座：英文采用 `bert-base-uncased` (1.1亿参数)，中文采用 `bert-base-chinese` (1.02亿参数)，平衡能力与资源消耗。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815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4381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016500" y="434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评分头网络结构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4323">
            <a:off x="4572013" y="488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4572000" y="508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采用极简线性层设计：Dropout(0.1) 防止过拟合，通过 768→1 的线性变换，最后经 Sigmoid 激活函数映射到 [0,1] 区间输出最终分数。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001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4381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636000" y="434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高效训练策略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4323">
            <a:off x="8191513" y="488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8191500" y="508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采用“冻结主体、微调头部”策略：固定BERT编码器参数，仅更新回归头约770个参数，极大提升训练速度并降低显存占用。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模型输入输出流程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5080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输入处理：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用户提交的作文文本首先经过分词处理，将自然语言拆解为离散的词汇单元。随后，这些词汇被映射为固定长度为512的Token ID序列，为后续模型的语义理解做好结构化的数据准备。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语义提取：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序列被送入冻结的BERT编码器，提取出第一个特殊token</a:t>
            </a:r>
            <a:r>
              <a:rPr lang="en-US" sz="1400" b="0" i="1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[CLS]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的最终隐藏状态（768维向量），该向量被认为是整个句子的语义摘要。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分数输出：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该向量被送入回归头，经过计算后输出一个[0, 1]之间的归一化分数。最后，该分数会根据原始数据集的分数范围映射到0-100分制，得到最终的作文分数。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858000" y="2717800"/>
            <a:ext cx="1524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输入文本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0" y="31496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144000" y="2590800"/>
            <a:ext cx="1778000" cy="1524000"/>
          </a:xfrm>
          <a:prstGeom prst="roundRect">
            <a:avLst>
              <a:gd name="adj" fmla="val 0"/>
            </a:avLst>
          </a:prstGeom>
          <a:solidFill>
            <a:srgbClr val="ECFCF1">
              <a:alpha val="100000"/>
            </a:srgbClr>
          </a:solidFill>
          <a:ln w="254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BERT模型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语义提取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285450">
            <a:off x="9842500" y="42990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9" name="AutoShape 9"/>
          <p:cNvSpPr/>
          <p:nvPr/>
        </p:nvSpPr>
        <p:spPr>
          <a:xfrm>
            <a:off x="9144000" y="4495800"/>
            <a:ext cx="1778000" cy="762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输出分数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数据集与训练过程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英文数据集：ASAP (Automated Student Assessment Prize)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814">
            <a:off x="1016008" y="2406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540000"/>
            <a:ext cx="495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源自Kaggle自动化作文评分竞赛，是AES领域的基准数据集。包含8个题目共12,976篇学生作文，严格划分训练/验证/测试集，并将分数归一化至 [0, 1] 区间，为模型提供了高质量的训练基础。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中文数据集：ASAP 翻译与适配版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814">
            <a:off x="1016008" y="4819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953000"/>
            <a:ext cx="495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选取ASAP中3,950篇作文通过Google翻译转为中文，完整保留原始评分标签。该数据集弥补了中文作文评分公开数据的空白，有效验证了模型在Android端中文场景下的可行性与鲁棒性。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90316">
            <a:off x="4222750" y="4025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731000" y="17780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3400" y="19304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02500" y="1905000"/>
            <a:ext cx="165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训练轮次 &amp; 批次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21757">
            <a:off x="6883420" y="2406650"/>
            <a:ext cx="200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883400" y="2540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训练3-5轮，批量大小设为16，平衡训练效率与显存占用。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07500" y="17780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59900" y="1930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779000" y="1905000"/>
            <a:ext cx="165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优化器与学习率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21757">
            <a:off x="9359920" y="2406650"/>
            <a:ext cx="200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9359900" y="2540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采用AdamW优化器，初始学习率1e-3，适配梯度下降需求。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731000" y="33655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83400" y="35179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02500" y="3492500"/>
            <a:ext cx="165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损失函数 (Loss)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21757">
            <a:off x="6883420" y="3994150"/>
            <a:ext cx="200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883400" y="4127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选用均方误差(MSE)作为损失函数，精准衡量预测分与真实分的偏差。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07500" y="3365500"/>
            <a:ext cx="234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59900" y="35179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779000" y="3492500"/>
            <a:ext cx="165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早停策略 (Early Stop)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21757">
            <a:off x="9359920" y="3994150"/>
            <a:ext cx="200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9359900" y="41275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实时监控验证集损失，若连续多轮未下降则终止训练，有效防止过拟合。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731000" y="5080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921500" y="52070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通过标准化的数据集划分与严谨的训练配置，确保模型在英文与中文场景下均具备稳定的评分能力，为移动端部署打下坚实的模型基础。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模型性能评估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我们采用作文自动评分领域最权威的评估指标——</a:t>
            </a:r>
            <a:r>
              <a:rPr lang="en-US" sz="14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二次加权Kappa（Quadratic Weighted Kappa, QWK）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来衡量模型性能。该指标用于评估模型预测分数与人类专家评分的一致性，取值范围为[-1, 1]，其中1代表预测结果与专家评分完全一致，是衡量评分模型可靠性的核心标准。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75000"/>
            <a:ext cx="5334000" cy="228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6604000" y="3175000"/>
            <a:ext cx="4826000" cy="2286000"/>
          </a:xfrm>
          <a:prstGeom prst="roundRect">
            <a:avLst>
              <a:gd name="adj" fmla="val 0"/>
            </a:avLst>
          </a:prstGeom>
          <a:solidFill>
            <a:srgbClr val="F0FDF4">
              <a:alpha val="7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94500" y="3302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关键数据概览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822">
            <a:off x="6794509" y="3740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794500" y="39370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中文模型测试集表现优异，QWK值达到</a:t>
            </a: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0.76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，与验证集结果高度一致，展现了极佳的鲁棒性。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65623">
            <a:off x="8382000" y="45656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9144000" y="39370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中英文模型体积均控制在</a:t>
            </a: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400MB 左右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，可轻松部署在现代智能手机端，具备极高的落地可行性。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34671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58674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5816600"/>
            <a:ext cx="2705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英文模型：合理泛化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跨题目泛化任务中QWK达0.58，在异构数据场景下取得了极具竞争力的一致性水平。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394200" y="5715000"/>
            <a:ext cx="34671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200" y="58674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029200" y="5816600"/>
            <a:ext cx="2705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中文模型：高分表现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得益于数据同质性，QWK高达0.79，评分结果与人类专家高度契合，泛化能力卓越。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026400" y="5715000"/>
            <a:ext cx="34671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53400" y="58674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661400" y="5816600"/>
            <a:ext cx="2705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轻量化：端侧适配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模型体积紧凑，无需高性能服务器支持，可无缝集成至移动端应用，降低部署成本。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Android端技术栈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为了打造一个现代化、高性能且易于维护的Android应用，我们甄选行业前沿技术组合，构建稳健、高效且极具交互性的移动终端架构。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1105" b="1105"/>
          <a:stretch>
            <a:fillRect/>
          </a:stretch>
        </p:blipFill>
        <p:spPr>
          <a:xfrm>
            <a:off x="965200" y="27940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235200" y="2794000"/>
            <a:ext cx="1841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核心语言 Kotlin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官方首选的现代编程语言，具备空安全、协程支持等特性，代码更简洁，开发效率大幅提升。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81500" y="2667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81500" y="2667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t="3769" b="3769"/>
          <a:stretch>
            <a:fillRect/>
          </a:stretch>
        </p:blipFill>
        <p:spPr>
          <a:xfrm>
            <a:off x="4584700" y="27940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5854700" y="2794000"/>
            <a:ext cx="1841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UI框架双驱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采用Jetpack Compose声明式UI，搭配Material Design 3设计规范，实现动态、美观且一致的用户界面。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001000" y="2667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001000" y="2667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l="27536" r="27536"/>
          <a:stretch>
            <a:fillRect/>
          </a:stretch>
        </p:blipFill>
        <p:spPr>
          <a:xfrm>
            <a:off x="8204200" y="27940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9474200" y="2794000"/>
            <a:ext cx="1841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AI推理引擎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集成PyTorch Mobile，在移动端实现高效的深度学习模型部署，支持实时、低延迟的AI功能处理。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699000"/>
            <a:ext cx="5334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699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89500"/>
            <a:ext cx="889000" cy="889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2159000" y="4826000"/>
            <a:ext cx="368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异步并发处理：Kotlin Coroutines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使用轻量级协程替代传统线程，简化复杂的异步逻辑，消除回调地狱，确保应用在数据加载与后台任务中保持流畅响应。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477000" y="4699000"/>
            <a:ext cx="4953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4699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rcRect t="7401" b="7401"/>
          <a:stretch>
            <a:fillRect/>
          </a:stretch>
        </p:blipFill>
        <p:spPr>
          <a:xfrm>
            <a:off x="6731000" y="4889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7874000" y="4826000"/>
            <a:ext cx="336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系统基石：Android 10 (API 29)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以Android 10为最低兼容版本，充分利用Scoped Storage、深色模式等现代系统特性，兼顾兼容性与功能体验。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Android App功能模块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238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57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单篇评分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2660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用户输入作文内容，系统自动检测语言并完成智能评分，直观展示总分、各项维度分及能力雷达图，提供针对性改进建议。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254500" y="1905000"/>
            <a:ext cx="3238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254500" y="1905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2095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2057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批量评分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626">
            <a:off x="4508514" y="2660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08500" y="2794000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支持用户导入标准CSV格式文件，系统高效完成批量作文评分，以结构化列表呈现结果，便于快速查阅和数据导出分析。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3238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064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254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4216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中英对比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626">
            <a:off x="1016014" y="481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4953000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输入任意文本，系统同步调用中文与英文模型进行双重评分，并排展示两种语言模型的评估结果，对比差异一目了然。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254500" y="4064000"/>
            <a:ext cx="3238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254500" y="4064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8500" y="4254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016500" y="4216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设置中心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5626">
            <a:off x="4508514" y="4819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4508500" y="4953000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实时显示核心AI模型的运行状态，支持手动触发模型加载与更新操作，并可查看模型版本、参数配置等详细技术信息。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rcRect t="22906" b="22906"/>
          <a:stretch>
            <a:fillRect/>
          </a:stretch>
        </p:blipFill>
        <p:spPr>
          <a:xfrm>
            <a:off x="8001000" y="2032000"/>
            <a:ext cx="3429000" cy="3302000"/>
          </a:xfrm>
          <a:prstGeom prst="rect">
            <a:avLst/>
          </a:prstGeom>
          <a:noFill/>
          <a:ln w="254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8001000" y="5588000"/>
            <a:ext cx="34290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128000" y="56896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界面设计遵循现代移动端交互规范，功能层级清晰，色彩搭配舒适，为用户提供流畅、高效的操作体验。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功能模块展示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9375" b="9375"/>
          <a:stretch>
            <a:fillRect/>
          </a:stretch>
        </p:blipFill>
        <p:spPr>
          <a:xfrm>
            <a:off x="762000" y="1905000"/>
            <a:ext cx="4064000" cy="3302000"/>
          </a:xfrm>
          <a:prstGeom prst="rect">
            <a:avLst/>
          </a:prstGeom>
          <a:noFill/>
          <a:ln w="254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基于现代Android技术栈构建的直观交互界面，将复杂的评分数据以可视化图表形式呈现，为用户提供沉浸式的反馈体验。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889">
            <a:off x="3302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715000" y="1905000"/>
            <a:ext cx="596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715000" y="1905000"/>
            <a:ext cx="762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000" y="20574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477000" y="2032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单篇评分与多维度反馈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7994">
            <a:off x="5969007" y="25971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969000" y="27305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动态UI与后台推理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采用Jetpack Compose构建界面，Kotlin Coroutines实现后台推理，确保UI流畅不阻塞，提升交互响应速度。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763000" y="27305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可视化展示与状态管理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自定义Canvas绘制雷达图，直观呈现多维得分；利用StateFlow实时同步状态，实现数据与视图的无缝联动。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15000" y="4254500"/>
            <a:ext cx="596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715000" y="4254500"/>
            <a:ext cx="762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9000" y="44069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477000" y="4381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批量评分与高效处理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7994">
            <a:off x="5969007" y="49466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5969000" y="5080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文件解析与数据导入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集成Android原生文件选择器，支持CSV文件快速导入与解析，自动识别数据格式，降低用户操作成本。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763000" y="5080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海量数据与进度追踪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使用LazyColumn高效渲染长列表，结合协程Flow实时推送处理进度，让批量任务的状态清晰可见。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核心技术挑战与解决方案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574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AGP版本兼容问题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59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30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升级至AGP 9.2.1后Gradle Sync失败。解决方案：在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app/build.gradle.kts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中显式指定可用的Build Tools版本，锁定依赖版本以消除兼容性冲突。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09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20574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PyTorch原生库运行闪退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540508" y="259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2730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pytorch_android_lite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库后App运行崩溃。解决方案：放弃轻量化的Lite版本，改用完整版本的PyTorch Android库，保证运行时环境的完整性与稳定性。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81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43434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移动端算子支持不兼容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167">
            <a:off x="1016008" y="488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5016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TorchScript模型加载失败，提示不支持 aten::scaled_dot_product_attention 算子。解决方案：在模型重建和导出阶段，强制BERT使用传统的eager模式实现注意力机制，规避算子缺失问题。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865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865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381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85000" y="43434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模型多输入接口调用繁琐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167">
            <a:off x="6540508" y="488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40500" y="5016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训练模型需接收多输入张量，移动端推理层调用逻辑复杂。解决方案：创建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AndroidWrapper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模块，封装底层模型，将多输入参数统一包装为单输入对象，简化上层调用接口。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核心技术挑战与解决方案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87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大文件加载可靠性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在将415MB的模型文件从APK复制到内部存储的过程中，因系统IO异常偶发复制失败，影响功能可用性。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699000"/>
            <a:ext cx="30480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48006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策略：采用原子化文件写入，先写入临时文件，校验完整性后再原子性重命名，确保文件一致。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413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2387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ABI架构兼容问题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46355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35500" y="3302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x86架构模拟器运行正常，但在ARM架构的Android真机上出现Native层闪退，定位为架构指令集不兼容导致。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72000" y="4699000"/>
            <a:ext cx="30480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99000" y="48006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方案：在构建脚本中明确指定仅构建armeabi-v7a/arm64-v8a架构，剔除x86相关ABI，适配真机环境。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413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763000" y="2387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国内网络访问限制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4946">
            <a:off x="8255014" y="310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255000" y="3302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项目依赖Google Maven及HuggingFace资源库，在国内网络环境下无法直接同步，导致构建失败或卡顿。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91500" y="4699000"/>
            <a:ext cx="30480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318500" y="48006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解决：在settings.gradle.kts中配置阿里云、腾讯云等国内镜像源，加速依赖拉取并确保稳定性。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52500" y="6045200"/>
            <a:ext cx="1028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通过针对性的工程优化与环境适配，我们系统性解决了部署与构建中的关键阻碍，保障了应用在复杂环境下的稳健运行。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移动端部署流程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1905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准备训练好的模型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2311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完成模型训练，评估并保存最佳权重文件 `best_model.pt`，为后续部署提供基础模型资产。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04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04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7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175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模型重建与配置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3581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加载预训练权重，强制启用 eager 模式的注意力机制，确保模型结构与移动端推理环境兼容。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445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包装模型接口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51000" y="4851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 `AndroidWrapper` 类，将模型的双输入统一包装为单输入结构，简化移动端调用逻辑。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588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651000" y="5588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模型转换 (TorchScript)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651000" y="59436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`torch.jit.trace` 跟踪模型，再用 `freeze` 固化，生成可独立运行的 `.pt` 序列化文件。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177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2230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19050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12000" y="1905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算子兼容性验证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12000" y="2311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手动检查 `.pt` 文件中包含的算子列表，确认所有算子均被移动端推理框架支持，规避运行时错误。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23000" y="304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223000" y="304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31750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112000" y="3175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集成到 Android 项目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112000" y="3581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将转换后的模型文件和词典文件 `vocab.txt` 复制到 Android 工程的 `assets` 资源目录中。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23000" y="431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223000" y="431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4445000"/>
            <a:ext cx="406400" cy="4064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112000" y="4445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构建可执行 APK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112000" y="48514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配置构建脚本，编译并打包生成约 817MB 的安装包，包含模型、代码及必要的依赖库。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223000" y="546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223000" y="546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0" y="5588000"/>
            <a:ext cx="406400" cy="4064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7112000" y="5588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08. 真机安装与功能测试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7112000" y="59436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在真实 Android 设备上安装 APK，进行端到端的功能验证和性能压测，确保模型运行稳定。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项目文件结构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一个清晰、合理的文件结构是项目可维护性和协作效率的保证。我们采用模块化架构，将应用层、模型层与数据层解耦，为团队并行开发提供坚实基础。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7112000" cy="25400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7112000" cy="406400"/>
          </a:xfrm>
          <a:prstGeom prst="roundRect">
            <a:avLst>
              <a:gd name="adj" fmla="val 0"/>
            </a:avLst>
          </a:prstGeom>
          <a:solidFill>
            <a:srgbClr val="4ADE8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730500"/>
            <a:ext cx="673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DE80"/>
                </a:solidFill>
                <a:latin typeface="Roboto Mono"/>
                <a:ea typeface="Roboto Mono"/>
                <a:cs typeface="Roboto Mono"/>
                <a:sym typeface="Roboto Mono"/>
              </a:rPr>
              <a:t>lab/ ── Project Root Directory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302000"/>
            <a:ext cx="673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├── Android_HomeworkScore/ # Android应用主目录 (UI &amp; Inference)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│ └── app/src/main/ (assets: .pt模型 / kotlin: 源码逻辑)</a:t>
            </a:r>
            <a:endParaRPr lang="en-US" sz="1300" b="0" i="0" u="none" strike="noStrike">
              <a:solidFill>
                <a:srgbClr val="D1D5D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├── models/ # 训练好的权重与脚本化模型文件</a:t>
            </a:r>
            <a:endParaRPr lang="en-US" sz="1300" b="0" i="0" u="none" strike="noStrike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├── data/ # ASAP数据集存储，与应用逻辑隔离</a:t>
            </a:r>
            <a:endParaRPr lang="en-US" sz="1300" b="0" i="0" u="none" strike="noStrike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└── train_and_export.py # 完整的模型训练、评估与导出流水线脚本</a:t>
            </a:r>
            <a:endParaRPr lang="en-US" sz="1300" b="0" i="0" u="none" strike="noStrike">
              <a:solidFill>
                <a:srgbClr val="D1D5D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5461000"/>
            <a:ext cx="3429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6134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5588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移动端应用独立封装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UI层与推理层代码集中管理，便于Android开发者专注于交互与部署优化。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508500" y="5461000"/>
            <a:ext cx="3429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56134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5588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模型数据分层管理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训练脚本、数据集与预训练权重分离存储，支持算法工程师独立迭代模型效果。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5461000"/>
            <a:ext cx="3429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56134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26500" y="5588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并行开发互不干扰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清晰的目录边界降低了开发耦合度，算法与工程团队可同步推进，提升整体研发效率。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255000" y="2667000"/>
            <a:ext cx="3302000" cy="254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445500" y="28575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结构设计理念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通过将应用运行环境、模型资产与原始数据解耦，我们构建了一个高内聚、低耦合的工程化架构。这种结构不仅规范了代码提交的路径，也为后续的自动化测试和CI/CD流水线搭建提供了清晰的入口。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Web版 vs Android版对比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6604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905000"/>
            <a:ext cx="298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Web版：云端架构，强依赖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采用客户端-服务器架构，模型预加载于云端。强依赖网络环境，开发快但需承担服务器运维与带宽成本。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5357030">
            <a:off x="3556000" y="24066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191000" y="1905000"/>
            <a:ext cx="298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Android版：单机架构，完全离线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单一应用架构，模型随应用安装本地加载。无需网络支持，数据处理本地化，彻底摆脱对云端服务器的依赖。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6604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3556000"/>
            <a:ext cx="298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技术栈：Streamlit + Python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利用Python生态快速构建UI，适合原型验证；但部署需租用服务器，维护成本随用户量上升，高并发时体验受限。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57030">
            <a:off x="3556000" y="40576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191000" y="3556000"/>
            <a:ext cx="298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技术栈：Jetpack Compose + Kotlin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采用Android原生技术栈，交互流畅；打包APK即可分发，用户下载即用，无额外服务端维护成本，推广门槛低。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66040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270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207000"/>
            <a:ext cx="558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核心优势：隐私安全与极致便携的完美结合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相比Web版，Android版将数据完全保留在本地设备，杜绝隐私泄露风险，且支持在无网环境下随时使用，为用户提供更可靠、更自由的服务体验。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l="4687" r="4687"/>
          <a:stretch>
            <a:fillRect/>
          </a:stretch>
        </p:blipFill>
        <p:spPr>
          <a:xfrm>
            <a:off x="7747000" y="1778000"/>
            <a:ext cx="3683000" cy="22860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7747000" y="4318000"/>
            <a:ext cx="3683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500" y="4508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382000" y="4508500"/>
            <a:ext cx="292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Web版的核心局限性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3222">
            <a:off x="7937512" y="50736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7937500" y="5207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Web版虽开发迭代迅速，但受限于网络稳定性与服务器成本，且用户数据上云存储存在潜在隐私隐患，难以满足高敏感场景的使用需求。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局限性与改进方向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0066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中文模型数据质量受限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603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当前依赖翻译数据，对真实中文作文的评分泛化能力不足。需采集带有专家评分的真实中文作文语料，重新训练以提升适配性。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032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20066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英文模型评分性能待升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2603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QWK指标0.58仍有优化空间。可尝试引入DeBERTa等更先进预训练模型，或结合模型集成技术，进一步提升评分的准确性与稳定性。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032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20066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维度评分依赖规则拆分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2470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2603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当前维度分基于启发式规则，并非真实多维度评估。需收集各维度专家评分数据，训练多任务学习模型，实现精细化的维度预测。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318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318000"/>
            <a:ext cx="508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4704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460500" y="44450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模型体积过大，部署成本高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8929">
            <a:off x="952508" y="4946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52500" y="5080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单个模型约400MB，导致APK体积高达817MB。计划研究并应用INT8等模型量化技术，压缩模型体积，降低移动端部署的硬件门槛与加载耗时。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59500" y="4318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159500" y="4318000"/>
            <a:ext cx="508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44704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858000" y="44450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长文本输入受限于Token长度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8929">
            <a:off x="6350008" y="4946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350000" y="5080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BERT模型仅支持512个Token的输入长度，难以处理长作文。后续将尝试Longformer等长文本模型，或采用段落分块、信息聚合的策略来突破此限制。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▍项目成果回顾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10160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DE80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94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768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模型构建与训练：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成功训练基于BERT的中英文作文评分模型，经测试具备稳定、可靠的智能评分能力。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046">
            <a:off x="1016008" y="3613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10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784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全栈工程落地：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攻克移动端离线推理难题，实现完全本地化运行；采用Jetpack Compose构建现代化Material 3 UI。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046">
            <a:off x="1016008" y="4692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6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89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48641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挑战突破与闭环：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深入解决7项核心工程挑战，实现单篇/批量评分完整功能闭环，展现扎实的软件工程实践能力。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778000"/>
            <a:ext cx="5080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1968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▍未来发展规划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549">
            <a:off x="6604009" y="247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DE80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" name="AutoShape 18"/>
          <p:cNvSpPr/>
          <p:nvPr/>
        </p:nvSpPr>
        <p:spPr>
          <a:xfrm>
            <a:off x="6604000" y="2794000"/>
            <a:ext cx="22225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29210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28956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轻量化优化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应用模型量化技术，显著减小APK体积，提升移动端推理速度与响应效率。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017000" y="2794000"/>
            <a:ext cx="22225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0" y="29210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525000" y="28956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数据精准化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采集真实中文作文语料，扩充训练数据集，进一步提升中文作文评分模型的精准度。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604000" y="4191000"/>
            <a:ext cx="22225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31000" y="4318000"/>
            <a:ext cx="279400" cy="279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12000" y="42926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多维度评分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研究多任务学习架构，实现语法、逻辑、创意等真实维度的细粒度智能评价。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9017000" y="4191000"/>
            <a:ext cx="22225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4000" y="4318000"/>
            <a:ext cx="279400" cy="279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525000" y="42926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应用生态化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完成全流程优化后，计划将应用发布至Google Play商店，服务更广泛的用户群体。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62000" y="6159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62000" y="61976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以技术赋能教育，用创新驱动未来，持续探索AI在作文评价领域的无限可能。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 &amp; 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302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3556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35941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致谢恩师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496">
            <a:off x="1066809" y="42481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4445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诚挚感谢指导老师 [翟建芳] 在项目选题、研究方法及论文撰写过程中给予的悉心指导与宝贵建议，让我们的研究方向更加清晰，学术视野更加开阔。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3302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3556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35941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致谢团队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496">
            <a:off x="6527809" y="42481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27800" y="4445000"/>
            <a:ext cx="459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特别感谢团队成员 [汪剑平]、[唐祥宇]、[王昊东] 的通力合作与辛勤付出。是团队的凝聚力与协作精神，让我们攻克难关，顺利完成项目研究。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9182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5905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汇报到此结束，非常欢迎老师批评指正、提问交流！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8731</Words>
  <Application>WPS 演示</Application>
  <PresentationFormat/>
  <Paragraphs>472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SC</vt:lpstr>
      <vt:lpstr>Roboto Mono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为何、悲伤</cp:lastModifiedBy>
  <cp:revision>1</cp:revision>
  <dcterms:created xsi:type="dcterms:W3CDTF">2026-06-21T03:50:31Z</dcterms:created>
  <dcterms:modified xsi:type="dcterms:W3CDTF">2026-06-21T03:50:31Z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{"Label":"1","ContentProducer":"001191110102MACQD9K64010000","ProduceID":"7653690802005248952","ReservedCode1":"","ContentPropagator":"","PropagateID":"","ReservedCode2":""}</vt:lpwstr>
  </property>
  <property fmtid="{D5CDD505-2E9C-101B-9397-08002B2CF9AE}" pid="3" name="ICV">
    <vt:lpwstr>C7F086E8E310437A87944C820B6EDFA2_12</vt:lpwstr>
  </property>
  <property fmtid="{D5CDD505-2E9C-101B-9397-08002B2CF9AE}" pid="4" name="KSOProductBuildVer">
    <vt:lpwstr>2052-12.1.0.26895</vt:lpwstr>
  </property>
</Properties>
</file>