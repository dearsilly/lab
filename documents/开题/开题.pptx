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5"/>
  </p:handoutMasterIdLst>
  <p:sldIdLst>
    <p:sldId id="268" r:id="rId3"/>
    <p:sldId id="269" r:id="rId5"/>
    <p:sldId id="282" r:id="rId6"/>
    <p:sldId id="281" r:id="rId7"/>
    <p:sldId id="280" r:id="rId8"/>
    <p:sldId id="274" r:id="rId9"/>
    <p:sldId id="273" r:id="rId10"/>
    <p:sldId id="285" r:id="rId11"/>
    <p:sldId id="272" r:id="rId12"/>
    <p:sldId id="271" r:id="rId13"/>
    <p:sldId id="284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38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8"/>
        <p:guide pos="38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image" Target="../media/image1.jpe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image" Target="../media/image1.jpeg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tags" Target="../tags/tag22.xml"/><Relationship Id="rId3" Type="http://schemas.openxmlformats.org/officeDocument/2006/relationships/image" Target="../media/image1.jpeg"/><Relationship Id="rId2" Type="http://schemas.openxmlformats.org/officeDocument/2006/relationships/tags" Target="../tags/tag21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image" Target="../media/image1.jpeg"/><Relationship Id="rId2" Type="http://schemas.openxmlformats.org/officeDocument/2006/relationships/tags" Target="../tags/tag29.xml"/><Relationship Id="rId10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image" Target="../media/image1.jpeg"/><Relationship Id="rId2" Type="http://schemas.openxmlformats.org/officeDocument/2006/relationships/tags" Target="../tags/tag3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image" Target="../media/image1.jpeg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image" Target="../media/image1.jpeg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image" Target="../media/image1.jpeg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image" Target="../media/image1.jpeg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image" Target="../media/image1.jpeg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VCG41N1410470348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904875" y="3999865"/>
            <a:ext cx="2019300" cy="48387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5"/>
            </p:custDataLst>
          </p:nvPr>
        </p:nvSpPr>
        <p:spPr>
          <a:xfrm>
            <a:off x="904875" y="2458720"/>
            <a:ext cx="7571105" cy="118999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904875" y="1689735"/>
            <a:ext cx="7571105" cy="638175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24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A-图片 4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PA-正文"/>
          <p:cNvSpPr txBox="1">
            <a:spLocks noGrp="1"/>
          </p:cNvSpPr>
          <p:nvPr>
            <p:ph idx="3"/>
            <p:custDataLst>
              <p:tags r:id="rId4"/>
            </p:custDataLst>
          </p:nvPr>
        </p:nvSpPr>
        <p:spPr>
          <a:xfrm>
            <a:off x="695325" y="1245235"/>
            <a:ext cx="10800715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8" name="PA-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PA-矩形 1"/>
          <p:cNvSpPr/>
          <p:nvPr userDrawn="1">
            <p:custDataLst>
              <p:tags r:id="rId6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9135" y="6356350"/>
            <a:ext cx="2882265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880995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798830" y="523875"/>
            <a:ext cx="1866265" cy="342900"/>
          </a:xfrm>
          <a:prstGeom prst="rect">
            <a:avLst/>
          </a:prstGeom>
          <a:noFill/>
        </p:spPr>
        <p:txBody>
          <a:bodyPr vert="horz" wrap="square" lIns="10795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8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单击编辑副标题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798830" y="866775"/>
            <a:ext cx="1866265" cy="105981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3" name="图形 5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08915" y="6143342"/>
            <a:ext cx="187891" cy="187891"/>
          </a:xfrm>
          <a:prstGeom prst="rect">
            <a:avLst/>
          </a:prstGeom>
        </p:spPr>
      </p:pic>
      <p:cxnSp>
        <p:nvCxnSpPr>
          <p:cNvPr id="9" name="直接连接符 8"/>
          <p:cNvCxnSpPr/>
          <p:nvPr>
            <p:custDataLst>
              <p:tags r:id="rId7"/>
            </p:custDataLst>
          </p:nvPr>
        </p:nvCxnSpPr>
        <p:spPr>
          <a:xfrm>
            <a:off x="857760" y="4520059"/>
            <a:ext cx="57690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8"/>
            </p:custDataLst>
          </p:nvPr>
        </p:nvSpPr>
        <p:spPr>
          <a:xfrm>
            <a:off x="857885" y="1802130"/>
            <a:ext cx="6318885" cy="52197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编辑节编号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9"/>
            </p:custDataLst>
          </p:nvPr>
        </p:nvSpPr>
        <p:spPr>
          <a:xfrm>
            <a:off x="857250" y="2505075"/>
            <a:ext cx="6318885" cy="157289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标题"/>
          <p:cNvSpPr txBox="1">
            <a:spLocks noGrp="1"/>
          </p:cNvSpPr>
          <p:nvPr>
            <p:ph type="title" idx="4"/>
            <p:custDataLst>
              <p:tags r:id="rId4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9" name="正文"/>
          <p:cNvSpPr txBox="1">
            <a:spLocks noGrp="1"/>
          </p:cNvSpPr>
          <p:nvPr>
            <p:ph idx="2"/>
            <p:custDataLst>
              <p:tags r:id="rId6"/>
            </p:custDataLst>
          </p:nvPr>
        </p:nvSpPr>
        <p:spPr>
          <a:xfrm>
            <a:off x="6400800" y="1244600"/>
            <a:ext cx="5095240" cy="49320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1"/>
            <p:custDataLst>
              <p:tags r:id="rId7"/>
            </p:custDataLst>
          </p:nvPr>
        </p:nvSpPr>
        <p:spPr>
          <a:xfrm>
            <a:off x="695325" y="1244600"/>
            <a:ext cx="5090160" cy="49320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87070" y="6356350"/>
            <a:ext cx="289433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标题"/>
          <p:cNvSpPr txBox="1">
            <a:spLocks noGrp="1"/>
          </p:cNvSpPr>
          <p:nvPr>
            <p:ph type="title" idx="6"/>
            <p:custDataLst>
              <p:tags r:id="rId4"/>
            </p:custDataLst>
          </p:nvPr>
        </p:nvSpPr>
        <p:spPr>
          <a:xfrm>
            <a:off x="6235065" y="1243330"/>
            <a:ext cx="5260975" cy="4749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5"/>
            </p:custDataLst>
          </p:nvPr>
        </p:nvSpPr>
        <p:spPr>
          <a:xfrm>
            <a:off x="696595" y="1244600"/>
            <a:ext cx="5253990" cy="4749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/>
            <p:custDataLst>
              <p:tags r:id="rId6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2" name="矩形 11"/>
          <p:cNvSpPr/>
          <p:nvPr userDrawn="1">
            <p:custDataLst>
              <p:tags r:id="rId7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11" name="正文"/>
          <p:cNvSpPr txBox="1">
            <a:spLocks noGrp="1"/>
          </p:cNvSpPr>
          <p:nvPr>
            <p:ph idx="2"/>
            <p:custDataLst>
              <p:tags r:id="rId8"/>
            </p:custDataLst>
          </p:nvPr>
        </p:nvSpPr>
        <p:spPr>
          <a:xfrm>
            <a:off x="6235065" y="1719580"/>
            <a:ext cx="5260975" cy="445643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0" name="正文"/>
          <p:cNvSpPr txBox="1"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696595" y="1719580"/>
            <a:ext cx="5253990" cy="445643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86435" y="6356350"/>
            <a:ext cx="2894965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标题"/>
          <p:cNvSpPr txBox="1">
            <a:spLocks noGrp="1"/>
          </p:cNvSpPr>
          <p:nvPr>
            <p:ph type="title" idx="2"/>
            <p:custDataLst>
              <p:tags r:id="rId4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9135" y="6356350"/>
            <a:ext cx="2882265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正文"/>
          <p:cNvSpPr txBox="1"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5960" y="6356350"/>
            <a:ext cx="288544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副标题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 algn="l"/>
            <a:r>
              <a:rPr dirty="0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8" name="矩形 7"/>
          <p:cNvSpPr/>
          <p:nvPr userDrawn="1">
            <p:custDataLst>
              <p:tags r:id="rId6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9770" y="6356350"/>
            <a:ext cx="288163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VCG41N1410470348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904875" y="1714500"/>
            <a:ext cx="7571105" cy="193421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904875" y="3999865"/>
            <a:ext cx="2019300" cy="48387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sym typeface="+mn-ea"/>
              </a:rPr>
              <a:t>单击此处编辑文本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82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image" Target="../media/image1.jpeg"/><Relationship Id="rId12" Type="http://schemas.openxmlformats.org/officeDocument/2006/relationships/tags" Target="../tags/tag75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雪地上&#10;&#10;中度可信度描述已自动生成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 rotWithShape="1">
          <a:blip r:embed="rId1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 userDrawn="1">
            <p:custDataLst>
              <p:tags r:id="rId14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标题占位符 8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zh-CN" altLang="en-US" sz="3200" b="1" i="0" u="none" strike="noStrike" kern="1200" cap="none" spc="0" normalizeH="0" baseline="0" dirty="0" smtClean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zh-CN" altLang="en-US" sz="1800" b="0" i="0" u="none" strike="noStrike" kern="1200" cap="none" spc="150" normalizeH="0" baseline="0" noProof="1" dirty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+mn-ea"/>
          <a:ea typeface="+mn-ea"/>
          <a:cs typeface="+mn-cs"/>
          <a:sym typeface="+mn-ea"/>
        </a:defRPr>
      </a:lvl1pPr>
      <a:lvl2pPr marL="6858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3pPr>
      <a:lvl4pPr marL="16002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4pPr>
      <a:lvl5pPr marL="20574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7" Type="http://schemas.openxmlformats.org/officeDocument/2006/relationships/notesSlide" Target="../notesSlides/notesSlide2.xml"/><Relationship Id="rId36" Type="http://schemas.openxmlformats.org/officeDocument/2006/relationships/slideLayout" Target="../slideLayouts/slideLayout3.xml"/><Relationship Id="rId35" Type="http://schemas.openxmlformats.org/officeDocument/2006/relationships/tags" Target="../tags/tag123.xml"/><Relationship Id="rId34" Type="http://schemas.openxmlformats.org/officeDocument/2006/relationships/tags" Target="../tags/tag122.xml"/><Relationship Id="rId33" Type="http://schemas.openxmlformats.org/officeDocument/2006/relationships/tags" Target="../tags/tag121.xml"/><Relationship Id="rId32" Type="http://schemas.openxmlformats.org/officeDocument/2006/relationships/tags" Target="../tags/tag120.xml"/><Relationship Id="rId31" Type="http://schemas.openxmlformats.org/officeDocument/2006/relationships/tags" Target="../tags/tag119.xml"/><Relationship Id="rId30" Type="http://schemas.openxmlformats.org/officeDocument/2006/relationships/tags" Target="../tags/tag118.xml"/><Relationship Id="rId3" Type="http://schemas.openxmlformats.org/officeDocument/2006/relationships/tags" Target="../tags/tag91.xml"/><Relationship Id="rId29" Type="http://schemas.openxmlformats.org/officeDocument/2006/relationships/tags" Target="../tags/tag117.xml"/><Relationship Id="rId28" Type="http://schemas.openxmlformats.org/officeDocument/2006/relationships/tags" Target="../tags/tag116.xml"/><Relationship Id="rId27" Type="http://schemas.openxmlformats.org/officeDocument/2006/relationships/tags" Target="../tags/tag115.xml"/><Relationship Id="rId26" Type="http://schemas.openxmlformats.org/officeDocument/2006/relationships/tags" Target="../tags/tag114.xml"/><Relationship Id="rId25" Type="http://schemas.openxmlformats.org/officeDocument/2006/relationships/tags" Target="../tags/tag113.xml"/><Relationship Id="rId24" Type="http://schemas.openxmlformats.org/officeDocument/2006/relationships/tags" Target="../tags/tag112.xml"/><Relationship Id="rId23" Type="http://schemas.openxmlformats.org/officeDocument/2006/relationships/tags" Target="../tags/tag111.xml"/><Relationship Id="rId22" Type="http://schemas.openxmlformats.org/officeDocument/2006/relationships/tags" Target="../tags/tag110.xml"/><Relationship Id="rId21" Type="http://schemas.openxmlformats.org/officeDocument/2006/relationships/tags" Target="../tags/tag109.xml"/><Relationship Id="rId20" Type="http://schemas.openxmlformats.org/officeDocument/2006/relationships/tags" Target="../tags/tag108.xml"/><Relationship Id="rId2" Type="http://schemas.openxmlformats.org/officeDocument/2006/relationships/tags" Target="../tags/tag90.xml"/><Relationship Id="rId19" Type="http://schemas.openxmlformats.org/officeDocument/2006/relationships/tags" Target="../tags/tag107.xml"/><Relationship Id="rId18" Type="http://schemas.openxmlformats.org/officeDocument/2006/relationships/tags" Target="../tags/tag106.xml"/><Relationship Id="rId17" Type="http://schemas.openxmlformats.org/officeDocument/2006/relationships/tags" Target="../tags/tag105.xml"/><Relationship Id="rId16" Type="http://schemas.openxmlformats.org/officeDocument/2006/relationships/tags" Target="../tags/tag104.xml"/><Relationship Id="rId15" Type="http://schemas.openxmlformats.org/officeDocument/2006/relationships/tags" Target="../tags/tag103.xml"/><Relationship Id="rId14" Type="http://schemas.openxmlformats.org/officeDocument/2006/relationships/tags" Target="../tags/tag102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tags" Target="../tags/tag99.xml"/><Relationship Id="rId10" Type="http://schemas.openxmlformats.org/officeDocument/2006/relationships/tags" Target="../tags/tag98.xml"/><Relationship Id="rId1" Type="http://schemas.openxmlformats.org/officeDocument/2006/relationships/tags" Target="../tags/tag8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tags" Target="../tags/tag146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" Type="http://schemas.openxmlformats.org/officeDocument/2006/relationships/tags" Target="../tags/tag14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56.xml"/><Relationship Id="rId7" Type="http://schemas.openxmlformats.org/officeDocument/2006/relationships/tags" Target="../tags/tag155.xml"/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tags" Target="../tags/tag14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65.xml"/><Relationship Id="rId8" Type="http://schemas.openxmlformats.org/officeDocument/2006/relationships/tags" Target="../tags/tag164.xml"/><Relationship Id="rId7" Type="http://schemas.openxmlformats.org/officeDocument/2006/relationships/tags" Target="../tags/tag163.xml"/><Relationship Id="rId6" Type="http://schemas.openxmlformats.org/officeDocument/2006/relationships/tags" Target="../tags/tag162.xml"/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72.xml"/><Relationship Id="rId16" Type="http://schemas.openxmlformats.org/officeDocument/2006/relationships/image" Target="../media/image4.png"/><Relationship Id="rId15" Type="http://schemas.openxmlformats.org/officeDocument/2006/relationships/tags" Target="../tags/tag171.xml"/><Relationship Id="rId14" Type="http://schemas.openxmlformats.org/officeDocument/2006/relationships/tags" Target="../tags/tag170.xml"/><Relationship Id="rId13" Type="http://schemas.openxmlformats.org/officeDocument/2006/relationships/tags" Target="../tags/tag169.xml"/><Relationship Id="rId12" Type="http://schemas.openxmlformats.org/officeDocument/2006/relationships/tags" Target="../tags/tag168.xml"/><Relationship Id="rId11" Type="http://schemas.openxmlformats.org/officeDocument/2006/relationships/tags" Target="../tags/tag167.xml"/><Relationship Id="rId10" Type="http://schemas.openxmlformats.org/officeDocument/2006/relationships/tags" Target="../tags/tag166.xml"/><Relationship Id="rId1" Type="http://schemas.openxmlformats.org/officeDocument/2006/relationships/tags" Target="../tags/tag15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81.xml"/><Relationship Id="rId8" Type="http://schemas.openxmlformats.org/officeDocument/2006/relationships/tags" Target="../tags/tag180.xml"/><Relationship Id="rId7" Type="http://schemas.openxmlformats.org/officeDocument/2006/relationships/tags" Target="../tags/tag179.xml"/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186.xml"/><Relationship Id="rId13" Type="http://schemas.openxmlformats.org/officeDocument/2006/relationships/tags" Target="../tags/tag185.xml"/><Relationship Id="rId12" Type="http://schemas.openxmlformats.org/officeDocument/2006/relationships/tags" Target="../tags/tag184.xml"/><Relationship Id="rId11" Type="http://schemas.openxmlformats.org/officeDocument/2006/relationships/tags" Target="../tags/tag183.xml"/><Relationship Id="rId10" Type="http://schemas.openxmlformats.org/officeDocument/2006/relationships/tags" Target="../tags/tag182.xml"/><Relationship Id="rId1" Type="http://schemas.openxmlformats.org/officeDocument/2006/relationships/tags" Target="../tags/tag17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94.xml"/><Relationship Id="rId7" Type="http://schemas.openxmlformats.org/officeDocument/2006/relationships/tags" Target="../tags/tag193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tags" Target="../tags/tag187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1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" Type="http://schemas.openxmlformats.org/officeDocument/2006/relationships/tags" Target="../tags/tag1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4"/>
          <p:cNvSpPr txBox="1"/>
          <p:nvPr>
            <p:custDataLst>
              <p:tags r:id="rId1"/>
            </p:custDataLst>
          </p:nvPr>
        </p:nvSpPr>
        <p:spPr>
          <a:xfrm>
            <a:off x="6604000" y="48285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  <a:sym typeface="MiSans Light" panose="00000400000000000000" charset="-122"/>
              </a:rPr>
              <a:t>软件学院软件系统设计（苏州）</a:t>
            </a:r>
            <a:endParaRPr lang="zh-CN" altLang="en-US">
              <a:solidFill>
                <a:schemeClr val="tx1"/>
              </a:solidFill>
              <a:sym typeface="MiSans Light" panose="00000400000000000000" charset="-122"/>
            </a:endParaRPr>
          </a:p>
        </p:txBody>
      </p:sp>
      <p:sp>
        <p:nvSpPr>
          <p:cNvPr id="5" name="文本占位符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04875" y="1558925"/>
            <a:ext cx="7571105" cy="638175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altLang="zh-CN" sz="2400" b="1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n-lt"/>
                <a:ea typeface="+mn-ea"/>
                <a:cs typeface="MiSans Heavy" panose="00000A00000000000000" charset="-122"/>
                <a:sym typeface="MiSans Light" panose="00000400000000000000" charset="-122"/>
              </a:defRPr>
            </a:lvl1pPr>
            <a:lvl2pPr marL="6858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  <a:sym typeface="MiSans Light" panose="00000400000000000000" charset="-122"/>
              </a:defRPr>
            </a:lvl2pPr>
            <a:lvl3pPr marL="11430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  <a:sym typeface="MiSans Light" panose="00000400000000000000" charset="-122"/>
              </a:defRPr>
            </a:lvl3pPr>
            <a:lvl4pPr marL="16002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  <a:sym typeface="MiSans Light" panose="00000400000000000000" charset="-122"/>
              </a:defRPr>
            </a:lvl4pPr>
            <a:lvl5pPr marL="20574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  <a:sym typeface="MiSans Light" panose="00000400000000000000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altLang="en-US">
                <a:solidFill>
                  <a:schemeClr val="accent1"/>
                </a:solidFill>
              </a:rPr>
              <a:t>BERT 模型驱动的中英文多场景评分解决方案</a:t>
            </a:r>
            <a:endParaRPr altLang="en-US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6604000" y="53492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  <a:sym typeface="MiSans Light" panose="00000400000000000000" charset="-122"/>
              </a:rPr>
              <a:t>2025.10.26</a:t>
            </a:r>
            <a:endParaRPr lang="en-US" altLang="zh-CN">
              <a:solidFill>
                <a:schemeClr val="tx1"/>
              </a:solidFill>
              <a:sym typeface="MiSans Light" panose="00000400000000000000" charset="-122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idx="3"/>
            <p:custDataLst>
              <p:tags r:id="rId4"/>
            </p:custDataLst>
          </p:nvPr>
        </p:nvSpPr>
        <p:spPr>
          <a:xfrm>
            <a:off x="904875" y="3999865"/>
            <a:ext cx="3409315" cy="680085"/>
          </a:xfrm>
        </p:spPr>
        <p:txBody>
          <a:bodyPr>
            <a:noAutofit/>
          </a:bodyPr>
          <a:lstStyle/>
          <a:p>
            <a:r>
              <a:rPr lang="en-US" altLang="en-US" sz="1000"/>
              <a:t>SA25225310</a:t>
            </a:r>
            <a:r>
              <a:rPr sz="1000"/>
              <a:t>唐祥宇，SA25225316汪剑平SA25225328王昊东，SA25225331王健康</a:t>
            </a:r>
            <a:endParaRPr sz="1000"/>
          </a:p>
        </p:txBody>
      </p:sp>
      <p:sp>
        <p:nvSpPr>
          <p:cNvPr id="3" name="标题 2"/>
          <p:cNvSpPr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904875" y="2184400"/>
            <a:ext cx="7571105" cy="1189990"/>
          </a:xfrm>
        </p:spPr>
        <p:txBody>
          <a:bodyPr>
            <a:normAutofit fontScale="90000"/>
          </a:bodyPr>
          <a:lstStyle/>
          <a:p>
            <a:r>
              <a:rPr altLang="en-US"/>
              <a:t>基于深度学习的文本作业自动评分系统（安卓版）</a:t>
            </a:r>
            <a:endParaRPr altLang="en-US"/>
          </a:p>
        </p:txBody>
      </p:sp>
    </p:spTree>
    <p:custDataLst>
      <p:tags r:id="rId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altLang="en-US"/>
              <a:t>目录</a:t>
            </a:r>
            <a:endParaRPr altLang="en-US"/>
          </a:p>
        </p:txBody>
      </p:sp>
      <p:cxnSp>
        <p:nvCxnSpPr>
          <p:cNvPr id="64" name="直接连接符 63"/>
          <p:cNvCxnSpPr/>
          <p:nvPr>
            <p:custDataLst>
              <p:tags r:id="rId3"/>
            </p:custDataLst>
          </p:nvPr>
        </p:nvCxnSpPr>
        <p:spPr>
          <a:xfrm>
            <a:off x="1188193" y="2472046"/>
            <a:ext cx="1582752" cy="0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>
            <p:custDataLst>
              <p:tags r:id="rId4"/>
            </p:custDataLst>
          </p:nvPr>
        </p:nvCxnSpPr>
        <p:spPr>
          <a:xfrm>
            <a:off x="1194646" y="2472046"/>
            <a:ext cx="27293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序号"/>
          <p:cNvSpPr txBox="1"/>
          <p:nvPr>
            <p:custDataLst>
              <p:tags r:id="rId5"/>
            </p:custDataLst>
          </p:nvPr>
        </p:nvSpPr>
        <p:spPr>
          <a:xfrm>
            <a:off x="1188193" y="1931987"/>
            <a:ext cx="858802" cy="472954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p>
            <a:pPr lvl="0" algn="l">
              <a:buClrTx/>
              <a:buSzTx/>
              <a:buFontTx/>
            </a:pPr>
            <a:r>
              <a:rPr lang="en-US" altLang="zh-CN" sz="2000" dirty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rPr>
              <a:t>01.</a:t>
            </a:r>
            <a:endParaRPr lang="en-US" altLang="zh-CN" sz="2000" dirty="0">
              <a:solidFill>
                <a:schemeClr val="accent1"/>
              </a:solidFill>
              <a:latin typeface="+mj-lt"/>
              <a:ea typeface="+mj-ea"/>
              <a:cs typeface="MiSans Heavy" panose="00000A00000000000000" charset="-122"/>
              <a:sym typeface="+mn-ea"/>
            </a:endParaRPr>
          </a:p>
        </p:txBody>
      </p:sp>
      <p:sp>
        <p:nvSpPr>
          <p:cNvPr id="68" name="标题"/>
          <p:cNvSpPr txBox="1"/>
          <p:nvPr>
            <p:custDataLst>
              <p:tags r:id="rId6"/>
            </p:custDataLst>
          </p:nvPr>
        </p:nvSpPr>
        <p:spPr>
          <a:xfrm>
            <a:off x="1188193" y="2592059"/>
            <a:ext cx="1987957" cy="140079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lvl="0" algn="l">
              <a:buClrTx/>
              <a:buSzTx/>
              <a:buFontTx/>
            </a:pPr>
            <a:r>
              <a:rPr lang="zh-CN" altLang="en-US" sz="2000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rPr>
              <a:t>项目背景与意义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  <a:cs typeface="MiSans Heavy" panose="00000A00000000000000" charset="-122"/>
              <a:sym typeface="+mn-ea"/>
            </a:endParaRPr>
          </a:p>
        </p:txBody>
      </p:sp>
      <p:cxnSp>
        <p:nvCxnSpPr>
          <p:cNvPr id="120" name="直接连接符 119"/>
          <p:cNvCxnSpPr/>
          <p:nvPr>
            <p:custDataLst>
              <p:tags r:id="rId7"/>
            </p:custDataLst>
          </p:nvPr>
        </p:nvCxnSpPr>
        <p:spPr>
          <a:xfrm>
            <a:off x="9519415" y="2472046"/>
            <a:ext cx="1582752" cy="0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/>
          <p:cNvCxnSpPr/>
          <p:nvPr>
            <p:custDataLst>
              <p:tags r:id="rId8"/>
            </p:custDataLst>
          </p:nvPr>
        </p:nvCxnSpPr>
        <p:spPr>
          <a:xfrm>
            <a:off x="9525868" y="2472046"/>
            <a:ext cx="27293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序号"/>
          <p:cNvSpPr txBox="1"/>
          <p:nvPr>
            <p:custDataLst>
              <p:tags r:id="rId9"/>
            </p:custDataLst>
          </p:nvPr>
        </p:nvSpPr>
        <p:spPr>
          <a:xfrm>
            <a:off x="9519415" y="1931987"/>
            <a:ext cx="858802" cy="472954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p>
            <a:pPr lvl="0" algn="l">
              <a:buClrTx/>
              <a:buSzTx/>
              <a:buFontTx/>
            </a:pPr>
            <a:r>
              <a:rPr lang="en-US" altLang="zh-CN" sz="2000" dirty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rPr>
              <a:t>04.</a:t>
            </a:r>
            <a:endParaRPr lang="en-US" altLang="zh-CN" sz="2000" dirty="0">
              <a:solidFill>
                <a:schemeClr val="accent1"/>
              </a:solidFill>
              <a:latin typeface="+mj-lt"/>
              <a:ea typeface="+mj-ea"/>
              <a:cs typeface="MiSans Heavy" panose="00000A00000000000000" charset="-122"/>
              <a:sym typeface="+mn-ea"/>
            </a:endParaRPr>
          </a:p>
        </p:txBody>
      </p:sp>
      <p:sp>
        <p:nvSpPr>
          <p:cNvPr id="124" name="标题"/>
          <p:cNvSpPr txBox="1"/>
          <p:nvPr>
            <p:custDataLst>
              <p:tags r:id="rId10"/>
            </p:custDataLst>
          </p:nvPr>
        </p:nvSpPr>
        <p:spPr>
          <a:xfrm>
            <a:off x="9519415" y="2592059"/>
            <a:ext cx="1987957" cy="140079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lvl="0" algn="l">
              <a:buClrTx/>
              <a:buSzTx/>
              <a:buFontTx/>
            </a:pPr>
            <a:r>
              <a:rPr lang="zh-CN" altLang="en-US" sz="2000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rPr>
              <a:t>项目难点与重点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  <a:cs typeface="MiSans Heavy" panose="00000A00000000000000" charset="-122"/>
              <a:sym typeface="+mn-ea"/>
            </a:endParaRPr>
          </a:p>
        </p:txBody>
      </p:sp>
      <p:cxnSp>
        <p:nvCxnSpPr>
          <p:cNvPr id="127" name="直接连接符 126"/>
          <p:cNvCxnSpPr/>
          <p:nvPr>
            <p:custDataLst>
              <p:tags r:id="rId11"/>
            </p:custDataLst>
          </p:nvPr>
        </p:nvCxnSpPr>
        <p:spPr>
          <a:xfrm>
            <a:off x="3965267" y="2472046"/>
            <a:ext cx="1582752" cy="0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连接符 127"/>
          <p:cNvCxnSpPr/>
          <p:nvPr>
            <p:custDataLst>
              <p:tags r:id="rId12"/>
            </p:custDataLst>
          </p:nvPr>
        </p:nvCxnSpPr>
        <p:spPr>
          <a:xfrm>
            <a:off x="3971720" y="2472046"/>
            <a:ext cx="27293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序号"/>
          <p:cNvSpPr txBox="1"/>
          <p:nvPr>
            <p:custDataLst>
              <p:tags r:id="rId13"/>
            </p:custDataLst>
          </p:nvPr>
        </p:nvSpPr>
        <p:spPr>
          <a:xfrm>
            <a:off x="3965267" y="1931987"/>
            <a:ext cx="858802" cy="472954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p>
            <a:pPr lvl="0" algn="l">
              <a:buClrTx/>
              <a:buSzTx/>
              <a:buFontTx/>
            </a:pPr>
            <a:r>
              <a:rPr lang="en-US" altLang="zh-CN" sz="2000" dirty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rPr>
              <a:t>02.</a:t>
            </a:r>
            <a:endParaRPr lang="en-US" altLang="zh-CN" sz="2000" dirty="0">
              <a:solidFill>
                <a:schemeClr val="accent1"/>
              </a:solidFill>
              <a:latin typeface="+mj-lt"/>
              <a:ea typeface="+mj-ea"/>
              <a:cs typeface="MiSans Heavy" panose="00000A00000000000000" charset="-122"/>
              <a:sym typeface="+mn-ea"/>
            </a:endParaRPr>
          </a:p>
        </p:txBody>
      </p:sp>
      <p:sp>
        <p:nvSpPr>
          <p:cNvPr id="131" name="标题"/>
          <p:cNvSpPr txBox="1"/>
          <p:nvPr>
            <p:custDataLst>
              <p:tags r:id="rId14"/>
            </p:custDataLst>
          </p:nvPr>
        </p:nvSpPr>
        <p:spPr>
          <a:xfrm>
            <a:off x="3965267" y="2592059"/>
            <a:ext cx="1987957" cy="140079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lvl="0" algn="l">
              <a:buClrTx/>
              <a:buSzTx/>
              <a:buFontTx/>
            </a:pPr>
            <a:r>
              <a:rPr lang="zh-CN" altLang="en-US" sz="2000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rPr>
              <a:t>核心技术与研究现状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  <a:cs typeface="MiSans Heavy" panose="00000A00000000000000" charset="-122"/>
              <a:sym typeface="+mn-ea"/>
            </a:endParaRPr>
          </a:p>
        </p:txBody>
      </p:sp>
      <p:cxnSp>
        <p:nvCxnSpPr>
          <p:cNvPr id="134" name="直接连接符 133"/>
          <p:cNvCxnSpPr/>
          <p:nvPr>
            <p:custDataLst>
              <p:tags r:id="rId15"/>
            </p:custDataLst>
          </p:nvPr>
        </p:nvCxnSpPr>
        <p:spPr>
          <a:xfrm>
            <a:off x="6742341" y="2472046"/>
            <a:ext cx="1582752" cy="0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连接符 134"/>
          <p:cNvCxnSpPr/>
          <p:nvPr>
            <p:custDataLst>
              <p:tags r:id="rId16"/>
            </p:custDataLst>
          </p:nvPr>
        </p:nvCxnSpPr>
        <p:spPr>
          <a:xfrm>
            <a:off x="6748794" y="2472046"/>
            <a:ext cx="27293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序号"/>
          <p:cNvSpPr txBox="1"/>
          <p:nvPr>
            <p:custDataLst>
              <p:tags r:id="rId17"/>
            </p:custDataLst>
          </p:nvPr>
        </p:nvSpPr>
        <p:spPr>
          <a:xfrm>
            <a:off x="6742341" y="1931987"/>
            <a:ext cx="858802" cy="472954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p>
            <a:pPr lvl="0" algn="l">
              <a:buClrTx/>
              <a:buSzTx/>
              <a:buFontTx/>
            </a:pPr>
            <a:r>
              <a:rPr lang="en-US" altLang="zh-CN" sz="2000" dirty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rPr>
              <a:t>03.</a:t>
            </a:r>
            <a:endParaRPr lang="en-US" altLang="zh-CN" sz="2000" dirty="0">
              <a:solidFill>
                <a:schemeClr val="accent1"/>
              </a:solidFill>
              <a:latin typeface="+mj-lt"/>
              <a:ea typeface="+mj-ea"/>
              <a:cs typeface="MiSans Heavy" panose="00000A00000000000000" charset="-122"/>
              <a:sym typeface="+mn-ea"/>
            </a:endParaRPr>
          </a:p>
        </p:txBody>
      </p:sp>
      <p:sp>
        <p:nvSpPr>
          <p:cNvPr id="138" name="标题"/>
          <p:cNvSpPr txBox="1"/>
          <p:nvPr>
            <p:custDataLst>
              <p:tags r:id="rId18"/>
            </p:custDataLst>
          </p:nvPr>
        </p:nvSpPr>
        <p:spPr>
          <a:xfrm>
            <a:off x="6742341" y="2592059"/>
            <a:ext cx="1987957" cy="140079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lvl="0" algn="l">
              <a:buClrTx/>
              <a:buSzTx/>
              <a:buFontTx/>
            </a:pPr>
            <a:r>
              <a:rPr lang="zh-CN" altLang="en-US" sz="2000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rPr>
              <a:t>已完成工作与成果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  <a:cs typeface="MiSans Heavy" panose="00000A00000000000000" charset="-122"/>
              <a:sym typeface="+mn-ea"/>
            </a:endParaRPr>
          </a:p>
        </p:txBody>
      </p:sp>
      <p:cxnSp>
        <p:nvCxnSpPr>
          <p:cNvPr id="141" name="直接连接符 140"/>
          <p:cNvCxnSpPr/>
          <p:nvPr>
            <p:custDataLst>
              <p:tags r:id="rId19"/>
            </p:custDataLst>
          </p:nvPr>
        </p:nvCxnSpPr>
        <p:spPr>
          <a:xfrm>
            <a:off x="1188193" y="4616793"/>
            <a:ext cx="1582752" cy="0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/>
          <p:cNvCxnSpPr/>
          <p:nvPr>
            <p:custDataLst>
              <p:tags r:id="rId20"/>
            </p:custDataLst>
          </p:nvPr>
        </p:nvCxnSpPr>
        <p:spPr>
          <a:xfrm>
            <a:off x="1194646" y="4616793"/>
            <a:ext cx="27293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序号"/>
          <p:cNvSpPr txBox="1"/>
          <p:nvPr>
            <p:custDataLst>
              <p:tags r:id="rId21"/>
            </p:custDataLst>
          </p:nvPr>
        </p:nvSpPr>
        <p:spPr>
          <a:xfrm>
            <a:off x="1188193" y="4076735"/>
            <a:ext cx="858802" cy="472954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p>
            <a:pPr lvl="0" algn="l">
              <a:buClrTx/>
              <a:buSzTx/>
              <a:buFontTx/>
            </a:pPr>
            <a:r>
              <a:rPr lang="en-US" altLang="zh-CN" sz="2000" dirty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rPr>
              <a:t>05.</a:t>
            </a:r>
            <a:endParaRPr lang="en-US" altLang="zh-CN" sz="2000" dirty="0">
              <a:solidFill>
                <a:schemeClr val="accent1"/>
              </a:solidFill>
              <a:latin typeface="+mj-lt"/>
              <a:ea typeface="+mj-ea"/>
              <a:cs typeface="MiSans Heavy" panose="00000A00000000000000" charset="-122"/>
              <a:sym typeface="+mn-ea"/>
            </a:endParaRPr>
          </a:p>
        </p:txBody>
      </p:sp>
      <p:sp>
        <p:nvSpPr>
          <p:cNvPr id="145" name="标题"/>
          <p:cNvSpPr txBox="1"/>
          <p:nvPr>
            <p:custDataLst>
              <p:tags r:id="rId22"/>
            </p:custDataLst>
          </p:nvPr>
        </p:nvSpPr>
        <p:spPr>
          <a:xfrm>
            <a:off x="1188193" y="4736806"/>
            <a:ext cx="1987957" cy="140079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lvl="0" algn="l">
              <a:buClrTx/>
              <a:buSzTx/>
              <a:buFontTx/>
            </a:pPr>
            <a:r>
              <a:rPr lang="zh-CN" altLang="en-US" sz="2000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rPr>
              <a:t>整体方案与任务分解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  <a:cs typeface="MiSans Heavy" panose="00000A00000000000000" charset="-122"/>
              <a:sym typeface="+mn-ea"/>
            </a:endParaRPr>
          </a:p>
        </p:txBody>
      </p:sp>
      <p:cxnSp>
        <p:nvCxnSpPr>
          <p:cNvPr id="148" name="直接连接符 147"/>
          <p:cNvCxnSpPr/>
          <p:nvPr>
            <p:custDataLst>
              <p:tags r:id="rId23"/>
            </p:custDataLst>
          </p:nvPr>
        </p:nvCxnSpPr>
        <p:spPr>
          <a:xfrm>
            <a:off x="9519415" y="4616793"/>
            <a:ext cx="1582752" cy="0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/>
          <p:cNvCxnSpPr/>
          <p:nvPr>
            <p:custDataLst>
              <p:tags r:id="rId24"/>
            </p:custDataLst>
          </p:nvPr>
        </p:nvCxnSpPr>
        <p:spPr>
          <a:xfrm>
            <a:off x="9525868" y="4616793"/>
            <a:ext cx="27293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序号"/>
          <p:cNvSpPr txBox="1"/>
          <p:nvPr>
            <p:custDataLst>
              <p:tags r:id="rId25"/>
            </p:custDataLst>
          </p:nvPr>
        </p:nvSpPr>
        <p:spPr>
          <a:xfrm>
            <a:off x="9519415" y="4076735"/>
            <a:ext cx="1018174" cy="472954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p>
            <a:pPr lvl="0" algn="l">
              <a:buClrTx/>
              <a:buSzTx/>
              <a:buFontTx/>
            </a:pPr>
            <a:r>
              <a:rPr lang="en-US" altLang="zh-CN" sz="2000" dirty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rPr>
              <a:t>08.</a:t>
            </a:r>
            <a:endParaRPr lang="en-US" altLang="zh-CN" sz="2000" dirty="0">
              <a:solidFill>
                <a:schemeClr val="accent1"/>
              </a:solidFill>
              <a:latin typeface="+mj-lt"/>
              <a:ea typeface="+mj-ea"/>
              <a:cs typeface="MiSans Heavy" panose="00000A00000000000000" charset="-122"/>
              <a:sym typeface="+mn-ea"/>
            </a:endParaRPr>
          </a:p>
        </p:txBody>
      </p:sp>
      <p:sp>
        <p:nvSpPr>
          <p:cNvPr id="152" name="标题"/>
          <p:cNvSpPr txBox="1"/>
          <p:nvPr>
            <p:custDataLst>
              <p:tags r:id="rId26"/>
            </p:custDataLst>
          </p:nvPr>
        </p:nvSpPr>
        <p:spPr>
          <a:xfrm>
            <a:off x="9519415" y="4736806"/>
            <a:ext cx="1987957" cy="140079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lvl="0" algn="l">
              <a:buClrTx/>
              <a:buSzTx/>
              <a:buFontTx/>
            </a:pPr>
            <a:r>
              <a:rPr lang="zh-CN" altLang="en-US" sz="2000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rPr>
              <a:t>总结与致谢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  <a:cs typeface="MiSans Heavy" panose="00000A00000000000000" charset="-122"/>
              <a:sym typeface="+mn-ea"/>
            </a:endParaRPr>
          </a:p>
        </p:txBody>
      </p:sp>
      <p:cxnSp>
        <p:nvCxnSpPr>
          <p:cNvPr id="155" name="直接连接符 154"/>
          <p:cNvCxnSpPr/>
          <p:nvPr>
            <p:custDataLst>
              <p:tags r:id="rId27"/>
            </p:custDataLst>
          </p:nvPr>
        </p:nvCxnSpPr>
        <p:spPr>
          <a:xfrm>
            <a:off x="3965267" y="4616793"/>
            <a:ext cx="1582752" cy="0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/>
          <p:cNvCxnSpPr/>
          <p:nvPr>
            <p:custDataLst>
              <p:tags r:id="rId28"/>
            </p:custDataLst>
          </p:nvPr>
        </p:nvCxnSpPr>
        <p:spPr>
          <a:xfrm>
            <a:off x="3971720" y="4616793"/>
            <a:ext cx="27293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序号"/>
          <p:cNvSpPr txBox="1"/>
          <p:nvPr>
            <p:custDataLst>
              <p:tags r:id="rId29"/>
            </p:custDataLst>
          </p:nvPr>
        </p:nvSpPr>
        <p:spPr>
          <a:xfrm>
            <a:off x="3965267" y="4076735"/>
            <a:ext cx="858802" cy="472954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p>
            <a:pPr lvl="0" algn="l">
              <a:buClrTx/>
              <a:buSzTx/>
              <a:buFontTx/>
            </a:pPr>
            <a:r>
              <a:rPr lang="en-US" altLang="zh-CN" sz="2000" dirty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rPr>
              <a:t>06.</a:t>
            </a:r>
            <a:endParaRPr lang="en-US" altLang="zh-CN" sz="2000" dirty="0">
              <a:solidFill>
                <a:schemeClr val="accent1"/>
              </a:solidFill>
              <a:latin typeface="+mj-lt"/>
              <a:ea typeface="+mj-ea"/>
              <a:cs typeface="MiSans Heavy" panose="00000A00000000000000" charset="-122"/>
              <a:sym typeface="+mn-ea"/>
            </a:endParaRPr>
          </a:p>
        </p:txBody>
      </p:sp>
      <p:sp>
        <p:nvSpPr>
          <p:cNvPr id="159" name="标题"/>
          <p:cNvSpPr txBox="1"/>
          <p:nvPr>
            <p:custDataLst>
              <p:tags r:id="rId30"/>
            </p:custDataLst>
          </p:nvPr>
        </p:nvSpPr>
        <p:spPr>
          <a:xfrm>
            <a:off x="3965267" y="4736806"/>
            <a:ext cx="1987957" cy="140079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lvl="0" algn="l">
              <a:buClrTx/>
              <a:buSzTx/>
              <a:buFontTx/>
            </a:pPr>
            <a:r>
              <a:rPr lang="zh-CN" altLang="en-US" sz="2000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rPr>
              <a:t>改进目标与未来规划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  <a:cs typeface="MiSans Heavy" panose="00000A00000000000000" charset="-122"/>
              <a:sym typeface="+mn-ea"/>
            </a:endParaRPr>
          </a:p>
        </p:txBody>
      </p:sp>
      <p:cxnSp>
        <p:nvCxnSpPr>
          <p:cNvPr id="162" name="直接连接符 161"/>
          <p:cNvCxnSpPr/>
          <p:nvPr>
            <p:custDataLst>
              <p:tags r:id="rId31"/>
            </p:custDataLst>
          </p:nvPr>
        </p:nvCxnSpPr>
        <p:spPr>
          <a:xfrm>
            <a:off x="6742341" y="4616793"/>
            <a:ext cx="1582752" cy="0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连接符 162"/>
          <p:cNvCxnSpPr/>
          <p:nvPr>
            <p:custDataLst>
              <p:tags r:id="rId32"/>
            </p:custDataLst>
          </p:nvPr>
        </p:nvCxnSpPr>
        <p:spPr>
          <a:xfrm>
            <a:off x="6748794" y="4616793"/>
            <a:ext cx="27293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序号"/>
          <p:cNvSpPr txBox="1"/>
          <p:nvPr>
            <p:custDataLst>
              <p:tags r:id="rId33"/>
            </p:custDataLst>
          </p:nvPr>
        </p:nvSpPr>
        <p:spPr>
          <a:xfrm>
            <a:off x="6742341" y="4076735"/>
            <a:ext cx="858802" cy="472954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p>
            <a:pPr lvl="0" algn="l">
              <a:buClrTx/>
              <a:buSzTx/>
              <a:buFontTx/>
            </a:pPr>
            <a:r>
              <a:rPr lang="en-US" altLang="zh-CN" sz="2000" dirty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rPr>
              <a:t>07</a:t>
            </a:r>
            <a:endParaRPr lang="en-US" altLang="zh-CN" sz="2000" dirty="0">
              <a:solidFill>
                <a:schemeClr val="accent1"/>
              </a:solidFill>
              <a:latin typeface="+mj-lt"/>
              <a:ea typeface="+mj-ea"/>
              <a:cs typeface="MiSans Heavy" panose="00000A00000000000000" charset="-122"/>
              <a:sym typeface="+mn-ea"/>
            </a:endParaRPr>
          </a:p>
        </p:txBody>
      </p:sp>
      <p:sp>
        <p:nvSpPr>
          <p:cNvPr id="166" name="标题"/>
          <p:cNvSpPr txBox="1"/>
          <p:nvPr>
            <p:custDataLst>
              <p:tags r:id="rId34"/>
            </p:custDataLst>
          </p:nvPr>
        </p:nvSpPr>
        <p:spPr>
          <a:xfrm>
            <a:off x="6742341" y="4736806"/>
            <a:ext cx="1987957" cy="140079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lvl="0" algn="l">
              <a:buClrTx/>
              <a:buSzTx/>
              <a:buFontTx/>
            </a:pPr>
            <a:r>
              <a:rPr lang="zh-CN" altLang="en-US" sz="2000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rPr>
              <a:t>预期目标与创新点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  <a:cs typeface="MiSans Heavy" panose="00000A00000000000000" charset="-122"/>
              <a:sym typeface="+mn-ea"/>
            </a:endParaRPr>
          </a:p>
        </p:txBody>
      </p:sp>
    </p:spTree>
    <p:custDataLst>
      <p:tags r:id="rId3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项目背景与意义</a:t>
            </a:r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469920" y="575606"/>
            <a:ext cx="115146" cy="476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469920" y="1609633"/>
            <a:ext cx="11264880" cy="4415586"/>
          </a:xfrm>
          <a:prstGeom prst="rect">
            <a:avLst/>
          </a:prstGeom>
          <a:solidFill>
            <a:schemeClr val="bg2"/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rIns="720000" rtlCol="0" anchor="ctr"/>
          <a:lstStyle/>
          <a:p>
            <a:pPr>
              <a:lnSpc>
                <a:spcPct val="130000"/>
              </a:lnSpc>
            </a:pPr>
            <a:endParaRPr lang="zh-CN" altLang="en-US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4"/>
            </p:custDataLst>
          </p:nvPr>
        </p:nvCxnSpPr>
        <p:spPr>
          <a:xfrm>
            <a:off x="1285240" y="5554980"/>
            <a:ext cx="450427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5"/>
            </p:custDataLst>
          </p:nvPr>
        </p:nvCxnSpPr>
        <p:spPr>
          <a:xfrm>
            <a:off x="1971040" y="5554980"/>
            <a:ext cx="8938260" cy="0"/>
          </a:xfrm>
          <a:prstGeom prst="line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6"/>
            </p:custDataLst>
          </p:nvPr>
        </p:nvSpPr>
        <p:spPr>
          <a:xfrm>
            <a:off x="1210945" y="1784985"/>
            <a:ext cx="9973945" cy="3547110"/>
          </a:xfrm>
          <a:prstGeom prst="rect">
            <a:avLst/>
          </a:prstGeom>
          <a:noFill/>
        </p:spPr>
        <p:txBody>
          <a:bodyPr wrap="square" rtlCol="0" anchor="ctr" anchorCtr="0">
            <a:normAutofit fontScale="90000"/>
          </a:bodyPr>
          <a:lstStyle/>
          <a:p>
            <a:pPr marL="0" lvl="0" indent="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研究背景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marL="457200" lvl="1" indent="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教育数字化趋势:文本作业(作文、报告等)批改需求激增,教师人工批改耗时耗力(单篇作文批改平均需 5-8 分钟)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marL="457200" lvl="1" indent="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传统评分痛点:主观偏差大(不同教师评分误差 ±10%)、效率低、反馈滞后(作业提交后 1-2 天才能收到评分)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marL="457200" lvl="1" indent="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应用场景需求:学生端需快速获取评分与反馈,教师端需批量批改工具,移动端(安卓)使用场景占比超 60%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marL="0" lvl="0" indent="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研究意义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marL="457200" lvl="1" indent="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实用价值:降低教师批改负担,提升评分效率(批量批改速度提升 10 倍以上),为学生提供即时反馈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marL="457200" lvl="1" indent="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技术价值:探索 BERT 模型在中英文文本评分中的适配性,实现 “多文件兼容 + 移动端落地” 的全场景解决方案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marL="457200" lvl="1" indent="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创新价值:突破单一语言、单一文件格式的评分局限,适配教育场景的多样化需求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核心技术与研究现状</a:t>
            </a:r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469920" y="1609633"/>
            <a:ext cx="11264880" cy="4415586"/>
          </a:xfrm>
          <a:prstGeom prst="rect">
            <a:avLst/>
          </a:prstGeom>
          <a:solidFill>
            <a:schemeClr val="bg2"/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rIns="720000" rtlCol="0" anchor="ctr"/>
          <a:lstStyle/>
          <a:p>
            <a:pPr>
              <a:lnSpc>
                <a:spcPct val="130000"/>
              </a:lnSpc>
            </a:pPr>
            <a:endParaRPr lang="zh-CN" altLang="en-US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3"/>
            </p:custDataLst>
          </p:nvPr>
        </p:nvCxnSpPr>
        <p:spPr>
          <a:xfrm>
            <a:off x="1285240" y="5554980"/>
            <a:ext cx="450427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4"/>
            </p:custDataLst>
          </p:nvPr>
        </p:nvCxnSpPr>
        <p:spPr>
          <a:xfrm>
            <a:off x="1971040" y="5554980"/>
            <a:ext cx="8938260" cy="0"/>
          </a:xfrm>
          <a:prstGeom prst="line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1210945" y="1784985"/>
            <a:ext cx="9973945" cy="3547110"/>
          </a:xfrm>
          <a:prstGeom prst="rect">
            <a:avLst/>
          </a:prstGeom>
          <a:noFill/>
        </p:spPr>
        <p:txBody>
          <a:bodyPr wrap="square" rtlCol="0" anchor="ctr" anchorCtr="0">
            <a:normAutofit lnSpcReduction="20000"/>
          </a:bodyPr>
          <a:lstStyle/>
          <a:p>
            <a:pPr marL="0" lvl="0" indent="0" fontAlgn="auto">
              <a:lnSpc>
                <a:spcPct val="150000"/>
              </a:lnSpc>
            </a:pPr>
            <a:r>
              <a:rPr lang="zh-CN" altLang="en-US" sz="144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核心技术选型</a:t>
            </a:r>
            <a:endParaRPr lang="zh-CN" altLang="en-US" sz="1445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marL="457200" lvl="1" indent="0" fontAlgn="auto">
              <a:lnSpc>
                <a:spcPct val="150000"/>
              </a:lnSpc>
            </a:pPr>
            <a:r>
              <a:rPr lang="zh-CN" altLang="en-US" sz="144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深度学习框架：</a:t>
            </a:r>
            <a:r>
              <a:rPr lang="en-US" altLang="zh-CN" sz="144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PyTorch</a:t>
            </a:r>
            <a:r>
              <a:rPr lang="zh-CN" altLang="en-US" sz="144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（模型训练与推理核心）</a:t>
            </a:r>
            <a:endParaRPr lang="zh-CN" altLang="en-US" sz="1445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marL="457200" lvl="1" indent="0" fontAlgn="auto">
              <a:lnSpc>
                <a:spcPct val="150000"/>
              </a:lnSpc>
            </a:pPr>
            <a:r>
              <a:rPr lang="zh-CN" altLang="en-US" sz="144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预训练模型：</a:t>
            </a:r>
            <a:r>
              <a:rPr lang="en-US" altLang="zh-CN" sz="144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BERT</a:t>
            </a:r>
            <a:r>
              <a:rPr lang="zh-CN" altLang="en-US" sz="144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（</a:t>
            </a:r>
            <a:r>
              <a:rPr lang="en-US" altLang="zh-CN" sz="144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bert-base-uncased/bert-base-chinese</a:t>
            </a:r>
            <a:r>
              <a:rPr lang="zh-CN" altLang="en-US" sz="144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）</a:t>
            </a:r>
            <a:r>
              <a:rPr lang="en-US" altLang="zh-CN" sz="144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—— </a:t>
            </a:r>
            <a:r>
              <a:rPr lang="zh-CN" altLang="en-US" sz="144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分别适配英</a:t>
            </a:r>
            <a:r>
              <a:rPr lang="en-US" altLang="zh-CN" sz="144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 / </a:t>
            </a:r>
            <a:r>
              <a:rPr lang="zh-CN" altLang="en-US" sz="144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中文语义捕捉，覆盖逻辑、论据、情感等评分需求</a:t>
            </a:r>
            <a:endParaRPr lang="zh-CN" altLang="en-US" sz="1445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marL="457200" lvl="1" indent="0" fontAlgn="auto">
              <a:lnSpc>
                <a:spcPct val="150000"/>
              </a:lnSpc>
            </a:pPr>
            <a:r>
              <a:rPr lang="zh-CN" altLang="en-US" sz="144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辅助技术：</a:t>
            </a:r>
            <a:r>
              <a:rPr lang="en-US" altLang="zh-CN" sz="144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spaCy/jieba</a:t>
            </a:r>
            <a:r>
              <a:rPr lang="zh-CN" altLang="en-US" sz="144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（英</a:t>
            </a:r>
            <a:r>
              <a:rPr lang="en-US" altLang="zh-CN" sz="144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 / </a:t>
            </a:r>
            <a:r>
              <a:rPr lang="zh-CN" altLang="en-US" sz="144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中文本预处理）、</a:t>
            </a:r>
            <a:r>
              <a:rPr lang="en-US" altLang="zh-CN" sz="144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transformers</a:t>
            </a:r>
            <a:r>
              <a:rPr lang="zh-CN" altLang="en-US" sz="144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（模型加载与微调）、</a:t>
            </a:r>
            <a:r>
              <a:rPr lang="en-US" altLang="zh-CN" sz="144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Android Studio</a:t>
            </a:r>
            <a:r>
              <a:rPr lang="zh-CN" altLang="en-US" sz="144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（移动端开发）、多文件解析库（</a:t>
            </a:r>
            <a:r>
              <a:rPr lang="en-US" altLang="zh-CN" sz="144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txt/word/pdf </a:t>
            </a:r>
            <a:r>
              <a:rPr lang="zh-CN" altLang="en-US" sz="144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兼容）</a:t>
            </a:r>
            <a:endParaRPr lang="zh-CN" altLang="en-US" sz="1445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marL="0" lvl="0" indent="0" fontAlgn="auto">
              <a:lnSpc>
                <a:spcPct val="150000"/>
              </a:lnSpc>
              <a:buNone/>
            </a:pPr>
            <a:r>
              <a:rPr lang="zh-CN" altLang="en-US" sz="144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国外研究现状</a:t>
            </a:r>
            <a:endParaRPr lang="zh-CN" altLang="en-US" sz="1445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marL="457200" lvl="1" indent="0" fontAlgn="auto">
              <a:lnSpc>
                <a:spcPct val="150000"/>
              </a:lnSpc>
              <a:buNone/>
            </a:pPr>
            <a:r>
              <a:rPr lang="zh-CN" altLang="en-US" sz="1445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国外在文本自动评分领域已形成 “技术 - 产品 - 生态” 的完整闭环,以ETS 的 e-rater 系统为典型代表。该系统由美国教育考试服务中心研发,基于自然语言处理技术,可对托福、GRE 等标准化考试的作文进行多维度评分(涵盖语法、结构、逻辑等),并提供实时反馈。此外,基于大型语言模型(LLMs)的零样本评分方法近年快速发展。而在模型层面,传统机器学习(SVM、朴素贝叶斯)逐渐向 BERT 等预训练模型演进,近年更结合多模态大模型(如 GPT-4o)实现 “图文结合” 的作文评分,如港科广团队构建的 EssayJudge 基准,支持对包含图表的作文进行十维度细粒度评分。</a:t>
            </a:r>
            <a:endParaRPr lang="zh-CN" altLang="en-US" sz="1445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核心技术与研究现状</a:t>
            </a:r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469920" y="1609633"/>
            <a:ext cx="11264880" cy="4415586"/>
          </a:xfrm>
          <a:prstGeom prst="rect">
            <a:avLst/>
          </a:prstGeom>
          <a:solidFill>
            <a:schemeClr val="bg2"/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rIns="720000" rtlCol="0" anchor="ctr"/>
          <a:lstStyle/>
          <a:p>
            <a:pPr>
              <a:lnSpc>
                <a:spcPct val="130000"/>
              </a:lnSpc>
            </a:pPr>
            <a:endParaRPr lang="zh-CN" altLang="en-US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3"/>
            </p:custDataLst>
          </p:nvPr>
        </p:nvCxnSpPr>
        <p:spPr>
          <a:xfrm>
            <a:off x="1285240" y="5554980"/>
            <a:ext cx="450427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4"/>
            </p:custDataLst>
          </p:nvPr>
        </p:nvCxnSpPr>
        <p:spPr>
          <a:xfrm>
            <a:off x="1971040" y="5554980"/>
            <a:ext cx="8938260" cy="0"/>
          </a:xfrm>
          <a:prstGeom prst="line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1210945" y="1784985"/>
            <a:ext cx="9973945" cy="35471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lvl="0" indent="0" fontAlgn="auto">
              <a:lnSpc>
                <a:spcPct val="150000"/>
              </a:lnSpc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国内研究现状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marL="457200" lvl="1" indent="0" fontAlgn="auto">
              <a:lnSpc>
                <a:spcPct val="150000"/>
              </a:lnSpc>
              <a:buNone/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国内研究聚焦中文场景的特殊性,形成 “技术适配 + 教育生态” 的发展路径。商业产品方面以科大讯飞智学网为代表,其 AI 批改工具已在中小学语文作文批改中试点应用;在高校研究领域,构建了CEDCC 中文作文语料库,针对中文语篇连贯性(结构、主题、逻辑)进行多维度标注,为中文作文的自动评分和语篇分析提供了基准数据集,推动了中文场景下评分模型的精细化发展。但中文评分领域存在局限:比如多语言与多格式支持不足(多局限于中文单语言、PC 端和特定文件格式)、移动端落地缺失、数据集稀缺等,导致模型泛化能力受限。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marL="0" lvl="0" indent="0" fontAlgn="auto">
              <a:lnSpc>
                <a:spcPct val="150000"/>
              </a:lnSpc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本项目的研究定位与创新价值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marL="457200" lvl="1" indent="0" fontAlgn="auto">
              <a:lnSpc>
                <a:spcPct val="150000"/>
              </a:lnSpc>
              <a:buNone/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本项目核心定位是“填补场景空白的全栈解决方案”,聚焦“跨语言适配”、“多文件兼容”、”移动端落地“三大缺场景缺口,针对移动端优化 BERT 模型推理效率,探索模型蒸馏、参数剪枝等轻量化技术;构建 “PC 端 + 安卓端” 的全端解决方案,支持多文件格式和中英文双语言;聚焦评分精度与用户体验,提供 “即时评分 + 简洁界面”,同时通过细分维度评分为师生提供针对性改进建议,为教师减负、学生提效提供技术支撑,同时为文本自动评分领域的多场景适配提供可复制的技术范式。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已完成工作与成果</a:t>
            </a:r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469920" y="1609633"/>
            <a:ext cx="11264880" cy="4415586"/>
          </a:xfrm>
          <a:prstGeom prst="rect">
            <a:avLst/>
          </a:prstGeom>
          <a:solidFill>
            <a:schemeClr val="bg2"/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rIns="720000" rtlCol="0" anchor="ctr"/>
          <a:lstStyle/>
          <a:p>
            <a:pPr>
              <a:lnSpc>
                <a:spcPct val="130000"/>
              </a:lnSpc>
            </a:pPr>
            <a:endParaRPr lang="zh-CN" altLang="en-US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3"/>
            </p:custDataLst>
          </p:nvPr>
        </p:nvCxnSpPr>
        <p:spPr>
          <a:xfrm>
            <a:off x="1285240" y="5554980"/>
            <a:ext cx="450427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4"/>
            </p:custDataLst>
          </p:nvPr>
        </p:nvCxnSpPr>
        <p:spPr>
          <a:xfrm>
            <a:off x="1971040" y="5554980"/>
            <a:ext cx="8938260" cy="0"/>
          </a:xfrm>
          <a:prstGeom prst="line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1210945" y="1784985"/>
            <a:ext cx="9973945" cy="354711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marL="0" lvl="0" indent="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基础工作落地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marL="457200" lvl="1" indent="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背景调研：完成教育场景评分需求分析、ASAP 数据集(英文作文评分基准数据集)深度解析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marL="457200" lvl="1" indent="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数据预处理：实现英文文本去噪、词形还原、去停用词,筛选 essay_set=8(60 分制)高质量样本 578 条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marL="457200" lvl="1" indent="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核心模型搭建：基于 BERT 改造回归任务(输出层优化为线性层),解决 “分数压缩”“权重加载不匹配” 等核心Bug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marL="0" lvl="0" indent="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初步成果验证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marL="457200" lvl="1" indent="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模型跑通：完成 “基础训练 + 高分精调” 流程搭建,训练集 loss 稳定下降,验证集 MAE=12.43(待优化)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marL="457200" lvl="1" indent="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英文评分功能：已实现单篇英文作文(文本输入)的评分推理,核心流程可正常运行，但仍需优化模型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marL="457200" lvl="1" indent="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数据集积累：整理英文高分样本 295 条,为后续精调与中文评分数据集构建提供参考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项目难点与重点</a:t>
            </a:r>
            <a:endParaRPr lang="zh-CN" altLang="en-US"/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609600" y="1506996"/>
            <a:ext cx="10972800" cy="2308726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  <a:alpha val="25000"/>
            </a:schemeClr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1341713" y="2329273"/>
            <a:ext cx="9508575" cy="117912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just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跨语言适配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: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中文文本评分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(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语义理解、评分标准映射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)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为空白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,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需构建中文评分数据集与适配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BERT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模型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indent="0" algn="just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移动端开发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: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团队无安卓开发经验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,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需攻克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“模型轻量化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+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移动端推理效率”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双重挑战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indent="0" algn="just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多文件兼容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:txt/word/pdf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格式解析差异大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,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需解决格式标准化、文本提取准确性问题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341713" y="1815588"/>
            <a:ext cx="9508575" cy="46669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+mn-ea"/>
              </a:rPr>
              <a:t>核心难点</a:t>
            </a:r>
            <a:endParaRPr lang="zh-CN" altLang="en-US" sz="24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9" name="圆角矩形 8"/>
          <p:cNvSpPr/>
          <p:nvPr>
            <p:custDataLst>
              <p:tags r:id="rId5"/>
            </p:custDataLst>
          </p:nvPr>
        </p:nvSpPr>
        <p:spPr>
          <a:xfrm>
            <a:off x="609600" y="4057643"/>
            <a:ext cx="10972800" cy="230872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1341713" y="4879920"/>
            <a:ext cx="9508575" cy="117912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just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模型精度优化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: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将英文评分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 MAE 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从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 12.43 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降至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 8 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分以内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,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确保评分可信度</a:t>
            </a:r>
            <a:endParaRPr lang="en-US" altLang="zh-CN" sz="1600" dirty="0">
              <a:solidFill>
                <a:srgbClr val="FFFFFF"/>
              </a:solidFill>
              <a:latin typeface="+mn-ea"/>
              <a:cs typeface="+mn-ea"/>
            </a:endParaRPr>
          </a:p>
          <a:p>
            <a:pPr indent="0" algn="just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FFFFFF"/>
                </a:solidFill>
                <a:latin typeface="+mn-ea"/>
                <a:cs typeface="+mn-ea"/>
              </a:rPr>
              <a:t>移动端核心功能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: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优先实现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 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“文本输入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 + 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文件上传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 + 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评分展示”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 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基础流程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,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再迭代优化</a:t>
            </a:r>
            <a:endParaRPr lang="en-US" altLang="zh-CN" sz="1600" dirty="0">
              <a:solidFill>
                <a:srgbClr val="FFFFFF"/>
              </a:solidFill>
              <a:latin typeface="+mn-ea"/>
              <a:cs typeface="+mn-ea"/>
            </a:endParaRPr>
          </a:p>
          <a:p>
            <a:pPr indent="0" algn="just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FFFFFF"/>
                </a:solidFill>
                <a:latin typeface="+mn-ea"/>
                <a:cs typeface="+mn-ea"/>
              </a:rPr>
              <a:t>中文评分落地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: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复用英文评分框架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,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重点构建中文数据集与评分规则映射</a:t>
            </a:r>
            <a:endParaRPr lang="zh-CN" altLang="en-US" sz="1600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1341713" y="4366235"/>
            <a:ext cx="9508575" cy="46669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cs typeface="+mn-ea"/>
              </a:rPr>
              <a:t>关键重点</a:t>
            </a:r>
            <a:endParaRPr lang="zh-CN" altLang="en-US" sz="2400" b="1" dirty="0">
              <a:solidFill>
                <a:srgbClr val="FFFFFF"/>
              </a:solidFill>
              <a:latin typeface="+mn-ea"/>
              <a:cs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整体方案与任务分解（</a:t>
            </a:r>
            <a:r>
              <a:rPr lang="en-US" altLang="zh-CN"/>
              <a:t>WBS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2" name="单圆角矩形 36"/>
          <p:cNvSpPr/>
          <p:nvPr>
            <p:custDataLst>
              <p:tags r:id="rId2"/>
            </p:custDataLst>
          </p:nvPr>
        </p:nvSpPr>
        <p:spPr>
          <a:xfrm flipH="1">
            <a:off x="813141" y="5303115"/>
            <a:ext cx="2242051" cy="677782"/>
          </a:xfrm>
          <a:prstGeom prst="round1Rect">
            <a:avLst>
              <a:gd name="adj" fmla="val 50000"/>
            </a:avLst>
          </a:prstGeom>
          <a:gradFill>
            <a:gsLst>
              <a:gs pos="90000">
                <a:schemeClr val="accent1">
                  <a:lumMod val="60000"/>
                  <a:lumOff val="40000"/>
                  <a:alpha val="100000"/>
                </a:schemeClr>
              </a:gs>
              <a:gs pos="0">
                <a:schemeClr val="accent1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1755" tIns="71755" rIns="323850" bIns="7175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16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开题阶段</a:t>
            </a:r>
            <a:endParaRPr lang="zh-CN" altLang="en-US" sz="1600" b="1" dirty="0">
              <a:solidFill>
                <a:srgbClr val="FFFFFF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4" name="直角三角形 42"/>
          <p:cNvSpPr/>
          <p:nvPr>
            <p:custDataLst>
              <p:tags r:id="rId3"/>
            </p:custDataLst>
          </p:nvPr>
        </p:nvSpPr>
        <p:spPr>
          <a:xfrm rot="10800000">
            <a:off x="2792504" y="5716166"/>
            <a:ext cx="263122" cy="26312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单圆角矩形 2"/>
          <p:cNvSpPr/>
          <p:nvPr>
            <p:custDataLst>
              <p:tags r:id="rId4"/>
            </p:custDataLst>
          </p:nvPr>
        </p:nvSpPr>
        <p:spPr>
          <a:xfrm flipH="1">
            <a:off x="2789978" y="5038484"/>
            <a:ext cx="2242051" cy="677782"/>
          </a:xfrm>
          <a:prstGeom prst="round1Rect">
            <a:avLst>
              <a:gd name="adj" fmla="val 50000"/>
            </a:avLst>
          </a:prstGeom>
          <a:gradFill>
            <a:gsLst>
              <a:gs pos="90000">
                <a:schemeClr val="accent2">
                  <a:lumMod val="60000"/>
                  <a:lumOff val="40000"/>
                  <a:alpha val="100000"/>
                </a:schemeClr>
              </a:gs>
              <a:gs pos="0">
                <a:schemeClr val="accent2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1755" tIns="71755" rIns="323850" bIns="7175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16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数据准备阶段</a:t>
            </a:r>
            <a:endParaRPr lang="zh-CN" altLang="en-US" sz="1600" b="1" dirty="0">
              <a:solidFill>
                <a:srgbClr val="FFFFFF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7" name="直角三角形 58"/>
          <p:cNvSpPr/>
          <p:nvPr>
            <p:custDataLst>
              <p:tags r:id="rId5"/>
            </p:custDataLst>
          </p:nvPr>
        </p:nvSpPr>
        <p:spPr>
          <a:xfrm rot="10800000">
            <a:off x="4768709" y="5450272"/>
            <a:ext cx="263122" cy="263122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" name="单圆角矩形 5"/>
          <p:cNvSpPr/>
          <p:nvPr>
            <p:custDataLst>
              <p:tags r:id="rId6"/>
            </p:custDataLst>
          </p:nvPr>
        </p:nvSpPr>
        <p:spPr>
          <a:xfrm flipH="1">
            <a:off x="4768709" y="4772590"/>
            <a:ext cx="2242051" cy="677782"/>
          </a:xfrm>
          <a:prstGeom prst="round1Rect">
            <a:avLst>
              <a:gd name="adj" fmla="val 50000"/>
            </a:avLst>
          </a:prstGeom>
          <a:gradFill>
            <a:gsLst>
              <a:gs pos="90000">
                <a:schemeClr val="accent3">
                  <a:lumMod val="60000"/>
                  <a:lumOff val="40000"/>
                  <a:alpha val="100000"/>
                </a:schemeClr>
              </a:gs>
              <a:gs pos="0">
                <a:schemeClr val="accent3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3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1755" tIns="107950" rIns="288290" bIns="7175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技术开发阶段</a:t>
            </a:r>
            <a:endParaRPr lang="zh-CN" altLang="en-US" sz="1600" b="1" dirty="0">
              <a:solidFill>
                <a:srgbClr val="FFFFFF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9" name="直角三角形 33"/>
          <p:cNvSpPr/>
          <p:nvPr>
            <p:custDataLst>
              <p:tags r:id="rId7"/>
            </p:custDataLst>
          </p:nvPr>
        </p:nvSpPr>
        <p:spPr>
          <a:xfrm rot="10800000">
            <a:off x="6748703" y="5186273"/>
            <a:ext cx="263122" cy="263122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单圆角矩形 24"/>
          <p:cNvSpPr/>
          <p:nvPr>
            <p:custDataLst>
              <p:tags r:id="rId8"/>
            </p:custDataLst>
          </p:nvPr>
        </p:nvSpPr>
        <p:spPr>
          <a:xfrm flipH="1">
            <a:off x="6750598" y="4504801"/>
            <a:ext cx="2242051" cy="677782"/>
          </a:xfrm>
          <a:prstGeom prst="round1Rect">
            <a:avLst>
              <a:gd name="adj" fmla="val 50000"/>
            </a:avLst>
          </a:prstGeom>
          <a:gradFill>
            <a:gsLst>
              <a:gs pos="90000">
                <a:schemeClr val="accent4">
                  <a:lumMod val="60000"/>
                  <a:lumOff val="40000"/>
                  <a:alpha val="100000"/>
                </a:schemeClr>
              </a:gs>
              <a:gs pos="0">
                <a:schemeClr val="accent4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4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1755" tIns="107950" rIns="288290" bIns="7175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16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系统集成交付阶段</a:t>
            </a:r>
            <a:endParaRPr lang="zh-CN" altLang="en-US" sz="1600" b="1" dirty="0">
              <a:solidFill>
                <a:srgbClr val="FFFFFF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1" name="直角三角形 34"/>
          <p:cNvSpPr/>
          <p:nvPr>
            <p:custDataLst>
              <p:tags r:id="rId9"/>
            </p:custDataLst>
          </p:nvPr>
        </p:nvSpPr>
        <p:spPr>
          <a:xfrm rot="10800000">
            <a:off x="8729329" y="4919747"/>
            <a:ext cx="263122" cy="263122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2" name="任意多边形 35"/>
          <p:cNvSpPr/>
          <p:nvPr>
            <p:custDataLst>
              <p:tags r:id="rId10"/>
            </p:custDataLst>
          </p:nvPr>
        </p:nvSpPr>
        <p:spPr>
          <a:xfrm>
            <a:off x="8729329" y="3986276"/>
            <a:ext cx="2746943" cy="119231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988" h="1731">
                <a:moveTo>
                  <a:pt x="3123" y="0"/>
                </a:moveTo>
                <a:lnTo>
                  <a:pt x="3988" y="866"/>
                </a:lnTo>
                <a:lnTo>
                  <a:pt x="3122" y="1731"/>
                </a:lnTo>
                <a:lnTo>
                  <a:pt x="3122" y="1358"/>
                </a:lnTo>
                <a:lnTo>
                  <a:pt x="0" y="1358"/>
                </a:lnTo>
                <a:lnTo>
                  <a:pt x="0" y="866"/>
                </a:lnTo>
                <a:cubicBezTo>
                  <a:pt x="0" y="594"/>
                  <a:pt x="220" y="374"/>
                  <a:pt x="492" y="374"/>
                </a:cubicBezTo>
                <a:lnTo>
                  <a:pt x="3123" y="374"/>
                </a:lnTo>
                <a:lnTo>
                  <a:pt x="3123" y="0"/>
                </a:lnTo>
                <a:close/>
              </a:path>
            </a:pathLst>
          </a:custGeom>
          <a:gradFill>
            <a:gsLst>
              <a:gs pos="25000">
                <a:schemeClr val="accent5">
                  <a:lumMod val="60000"/>
                  <a:lumOff val="40000"/>
                  <a:alpha val="100000"/>
                </a:schemeClr>
              </a:gs>
              <a:gs pos="90000">
                <a:schemeClr val="accent5">
                  <a:alpha val="100000"/>
                </a:scheme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schemeClr val="accent5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79705" tIns="144145" rIns="360045" bIns="14414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部署与收尾阶段</a:t>
            </a:r>
            <a:endParaRPr lang="zh-CN" altLang="en-US" sz="1600" b="1">
              <a:solidFill>
                <a:srgbClr val="FFFFFF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52" name="正文"/>
          <p:cNvSpPr txBox="1"/>
          <p:nvPr>
            <p:custDataLst>
              <p:tags r:id="rId11"/>
            </p:custDataLst>
          </p:nvPr>
        </p:nvSpPr>
        <p:spPr>
          <a:xfrm>
            <a:off x="858618" y="3988496"/>
            <a:ext cx="1994771" cy="127015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zh-CN" altLang="en-US" sz="16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明确方向</a:t>
            </a:r>
            <a:r>
              <a:rPr lang="en-US" altLang="zh-CN" sz="16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,</a:t>
            </a:r>
            <a:r>
              <a:rPr lang="zh-CN" altLang="en-US" sz="16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奠定基础</a:t>
            </a:r>
            <a:endParaRPr lang="zh-CN" altLang="en-US" sz="1600" spc="13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56" name="正文"/>
          <p:cNvSpPr txBox="1"/>
          <p:nvPr>
            <p:custDataLst>
              <p:tags r:id="rId12"/>
            </p:custDataLst>
          </p:nvPr>
        </p:nvSpPr>
        <p:spPr>
          <a:xfrm>
            <a:off x="3055350" y="5789818"/>
            <a:ext cx="1994771" cy="11334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zh-CN" altLang="en-US" sz="16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高质量数据是模型的</a:t>
            </a:r>
            <a:r>
              <a:rPr lang="en-US" altLang="zh-CN" sz="16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 </a:t>
            </a:r>
            <a:r>
              <a:rPr lang="zh-CN" altLang="en-US" sz="16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“基石”</a:t>
            </a:r>
            <a:endParaRPr lang="zh-CN" altLang="en-US" sz="1600" spc="13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61" name="正文"/>
          <p:cNvSpPr txBox="1"/>
          <p:nvPr>
            <p:custDataLst>
              <p:tags r:id="rId13"/>
            </p:custDataLst>
          </p:nvPr>
        </p:nvSpPr>
        <p:spPr>
          <a:xfrm>
            <a:off x="4793862" y="3502425"/>
            <a:ext cx="1994771" cy="127015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zh-CN" altLang="en-US" sz="16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算法</a:t>
            </a:r>
            <a:r>
              <a:rPr lang="en-US" altLang="zh-CN" sz="16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 + </a:t>
            </a:r>
            <a:r>
              <a:rPr lang="zh-CN" altLang="en-US" sz="16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工程的双轮驱动</a:t>
            </a:r>
            <a:endParaRPr lang="zh-CN" altLang="en-US" sz="1600" spc="13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66" name="正文"/>
          <p:cNvSpPr txBox="1"/>
          <p:nvPr>
            <p:custDataLst>
              <p:tags r:id="rId14"/>
            </p:custDataLst>
          </p:nvPr>
        </p:nvSpPr>
        <p:spPr>
          <a:xfrm>
            <a:off x="7031653" y="5254875"/>
            <a:ext cx="1994771" cy="11334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zh-CN" altLang="en-US" sz="16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从模块到系统的</a:t>
            </a:r>
            <a:r>
              <a:rPr lang="en-US" altLang="zh-CN" sz="16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 </a:t>
            </a:r>
            <a:r>
              <a:rPr lang="zh-CN" altLang="en-US" sz="16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“组装</a:t>
            </a:r>
            <a:r>
              <a:rPr lang="en-US" altLang="zh-CN" sz="16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 + </a:t>
            </a:r>
            <a:r>
              <a:rPr lang="zh-CN" altLang="en-US" sz="16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质检”</a:t>
            </a:r>
            <a:endParaRPr lang="zh-CN" altLang="en-US" sz="1600" spc="13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70" name="正文"/>
          <p:cNvSpPr txBox="1"/>
          <p:nvPr>
            <p:custDataLst>
              <p:tags r:id="rId15"/>
            </p:custDataLst>
          </p:nvPr>
        </p:nvSpPr>
        <p:spPr>
          <a:xfrm>
            <a:off x="8884066" y="2805333"/>
            <a:ext cx="1994771" cy="1348942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zh-CN" altLang="en-US" sz="16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落地</a:t>
            </a:r>
            <a:r>
              <a:rPr lang="en-US" altLang="zh-CN" sz="16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 + </a:t>
            </a:r>
            <a:r>
              <a:rPr lang="zh-CN" altLang="en-US" sz="16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沉淀价值</a:t>
            </a:r>
            <a:endParaRPr lang="zh-CN" altLang="en-US" sz="1600" spc="13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4980" y="1206500"/>
            <a:ext cx="11242040" cy="24765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94405"/>
            <a:ext cx="10800000" cy="792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改进目标与未来规划</a:t>
            </a:r>
            <a:endParaRPr lang="zh-CN" altLang="en-US" dirty="0"/>
          </a:p>
        </p:txBody>
      </p:sp>
      <p:sp>
        <p:nvSpPr>
          <p:cNvPr id="4" name="矩形 18"/>
          <p:cNvSpPr/>
          <p:nvPr>
            <p:custDataLst>
              <p:tags r:id="rId2"/>
            </p:custDataLst>
          </p:nvPr>
        </p:nvSpPr>
        <p:spPr>
          <a:xfrm>
            <a:off x="695961" y="1407717"/>
            <a:ext cx="3420000" cy="247689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54000" dist="1016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矩形 19"/>
          <p:cNvSpPr/>
          <p:nvPr>
            <p:custDataLst>
              <p:tags r:id="rId3"/>
            </p:custDataLst>
          </p:nvPr>
        </p:nvSpPr>
        <p:spPr>
          <a:xfrm>
            <a:off x="695961" y="1541702"/>
            <a:ext cx="3420000" cy="462421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54000" dist="101600" dir="2700000" algn="tl" rotWithShape="0">
              <a:schemeClr val="tx1">
                <a:lumMod val="75000"/>
                <a:lumOff val="2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" name="矩形 1"/>
          <p:cNvSpPr/>
          <p:nvPr>
            <p:custDataLst>
              <p:tags r:id="rId4"/>
            </p:custDataLst>
          </p:nvPr>
        </p:nvSpPr>
        <p:spPr>
          <a:xfrm>
            <a:off x="1014731" y="2342437"/>
            <a:ext cx="2782241" cy="350938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模型精度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: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英文评分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 MAE≤8 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分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,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高分作文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(40 + 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分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)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预测误差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≤6 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分</a:t>
            </a:r>
            <a:endParaRPr lang="en-US" altLang="zh-CN" sz="1400" dirty="0">
              <a:solidFill>
                <a:srgbClr val="333333"/>
              </a:solidFill>
              <a:latin typeface="+mn-ea"/>
              <a:cs typeface="+mn-ea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功能完善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: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实现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 txt/word/pdf 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文件的文本提取与标准化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,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支持批量上传评分</a:t>
            </a:r>
            <a:endParaRPr lang="en-US" altLang="zh-CN" sz="1400" dirty="0">
              <a:solidFill>
                <a:srgbClr val="333333"/>
              </a:solidFill>
              <a:latin typeface="+mn-ea"/>
              <a:cs typeface="+mn-ea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基础界面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: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完成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 PC 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端图形化界面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(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简洁版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),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支持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 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“文本输入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 + 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文件上传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 + 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评分结果展示”</a:t>
            </a:r>
            <a:endParaRPr lang="zh-CN" altLang="en-US" sz="1400" dirty="0">
              <a:solidFill>
                <a:srgbClr val="333333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" name="矩形 2"/>
          <p:cNvSpPr/>
          <p:nvPr>
            <p:custDataLst>
              <p:tags r:id="rId5"/>
            </p:custDataLst>
          </p:nvPr>
        </p:nvSpPr>
        <p:spPr>
          <a:xfrm>
            <a:off x="1014731" y="1789352"/>
            <a:ext cx="2782241" cy="40924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近期改进目标</a:t>
            </a:r>
            <a:r>
              <a:rPr lang="en-US" altLang="zh-CN" sz="20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(1-4 </a:t>
            </a: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周</a:t>
            </a:r>
            <a:r>
              <a:rPr lang="en-US" altLang="zh-CN" sz="20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)</a:t>
            </a:r>
            <a:endParaRPr lang="en-US" altLang="zh-CN" sz="20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" name="矩形 8"/>
          <p:cNvSpPr/>
          <p:nvPr>
            <p:custDataLst>
              <p:tags r:id="rId6"/>
            </p:custDataLst>
          </p:nvPr>
        </p:nvSpPr>
        <p:spPr>
          <a:xfrm>
            <a:off x="4385946" y="1407717"/>
            <a:ext cx="3420000" cy="24768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54000" dist="1016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6" name="矩形 9"/>
          <p:cNvSpPr/>
          <p:nvPr>
            <p:custDataLst>
              <p:tags r:id="rId7"/>
            </p:custDataLst>
          </p:nvPr>
        </p:nvSpPr>
        <p:spPr>
          <a:xfrm>
            <a:off x="4385946" y="1541702"/>
            <a:ext cx="3420000" cy="462421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54000" dist="101600" dir="2700000" algn="tl" rotWithShape="0">
              <a:schemeClr val="tx1">
                <a:lumMod val="75000"/>
                <a:lumOff val="2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矩形 5"/>
          <p:cNvSpPr/>
          <p:nvPr>
            <p:custDataLst>
              <p:tags r:id="rId8"/>
            </p:custDataLst>
          </p:nvPr>
        </p:nvSpPr>
        <p:spPr>
          <a:xfrm>
            <a:off x="4704716" y="2342437"/>
            <a:ext cx="2782241" cy="350938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中文评分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: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构建中文作文评分数据集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(300 + 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条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),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适配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 BERT 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模型实现中文评分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(MAE≤10 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分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)</a:t>
            </a:r>
            <a:endParaRPr lang="en-US" altLang="zh-CN" sz="1400" dirty="0">
              <a:solidFill>
                <a:srgbClr val="333333"/>
              </a:solidFill>
              <a:latin typeface="+mn-ea"/>
              <a:cs typeface="+mn-ea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移动端开发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: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完成安卓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 APP 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基础版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(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核心功能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: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文本输入、文件上传、评分结果展示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),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解决模型轻量化问题</a:t>
            </a:r>
            <a:endParaRPr lang="en-US" altLang="zh-CN" sz="1400" dirty="0">
              <a:solidFill>
                <a:srgbClr val="333333"/>
              </a:solidFill>
              <a:latin typeface="+mn-ea"/>
              <a:cs typeface="+mn-ea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界面优化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: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统一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 PC 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端与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 APP 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端视觉风格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,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提升用户操作便捷性</a:t>
            </a:r>
            <a:endParaRPr lang="zh-CN" altLang="en-US" sz="1400" dirty="0">
              <a:solidFill>
                <a:srgbClr val="333333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2" name="矩形 6"/>
          <p:cNvSpPr/>
          <p:nvPr>
            <p:custDataLst>
              <p:tags r:id="rId9"/>
            </p:custDataLst>
          </p:nvPr>
        </p:nvSpPr>
        <p:spPr>
          <a:xfrm>
            <a:off x="4704716" y="1789352"/>
            <a:ext cx="2782241" cy="40924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中期规划</a:t>
            </a:r>
            <a:r>
              <a:rPr lang="en-US" altLang="zh-CN" sz="2000" b="1" dirty="0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(5-12 </a:t>
            </a:r>
            <a:r>
              <a:rPr lang="zh-CN" altLang="en-US" sz="2000" b="1" dirty="0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周</a:t>
            </a:r>
            <a:r>
              <a:rPr lang="en-US" altLang="zh-CN" sz="2000" b="1" dirty="0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)</a:t>
            </a:r>
            <a:endParaRPr lang="en-US" altLang="zh-CN" sz="2000" b="1" dirty="0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3" name="矩形 17"/>
          <p:cNvSpPr/>
          <p:nvPr>
            <p:custDataLst>
              <p:tags r:id="rId10"/>
            </p:custDataLst>
          </p:nvPr>
        </p:nvSpPr>
        <p:spPr>
          <a:xfrm>
            <a:off x="8075931" y="1407717"/>
            <a:ext cx="3420000" cy="247689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254000" dist="1016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24" name="矩形 20"/>
          <p:cNvSpPr/>
          <p:nvPr>
            <p:custDataLst>
              <p:tags r:id="rId11"/>
            </p:custDataLst>
          </p:nvPr>
        </p:nvSpPr>
        <p:spPr>
          <a:xfrm>
            <a:off x="8075931" y="1541702"/>
            <a:ext cx="3420000" cy="462421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54000" dist="101600" dir="2700000" algn="tl" rotWithShape="0">
              <a:schemeClr val="tx1">
                <a:lumMod val="75000"/>
                <a:lumOff val="2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5" name="矩形 7"/>
          <p:cNvSpPr/>
          <p:nvPr>
            <p:custDataLst>
              <p:tags r:id="rId12"/>
            </p:custDataLst>
          </p:nvPr>
        </p:nvSpPr>
        <p:spPr>
          <a:xfrm>
            <a:off x="8394701" y="2342437"/>
            <a:ext cx="2782241" cy="350938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分项反馈</a:t>
            </a:r>
            <a:r>
              <a:rPr lang="en-US" altLang="zh-CN" sz="140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:</a:t>
            </a:r>
            <a:r>
              <a:rPr lang="zh-CN" altLang="en-US" sz="140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实现</a:t>
            </a:r>
            <a:r>
              <a:rPr lang="en-US" altLang="zh-CN" sz="140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 </a:t>
            </a:r>
            <a:r>
              <a:rPr lang="zh-CN" altLang="en-US" sz="140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“总分</a:t>
            </a:r>
            <a:r>
              <a:rPr lang="en-US" altLang="zh-CN" sz="140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 + </a:t>
            </a:r>
            <a:r>
              <a:rPr lang="zh-CN" altLang="en-US" sz="140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细分维度评分”</a:t>
            </a:r>
            <a:r>
              <a:rPr lang="en-US" altLang="zh-CN" sz="140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(</a:t>
            </a:r>
            <a:r>
              <a:rPr lang="zh-CN" altLang="en-US" sz="140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如逻辑、语法、内容</a:t>
            </a:r>
            <a:r>
              <a:rPr lang="en-US" altLang="zh-CN" sz="140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),</a:t>
            </a:r>
            <a:r>
              <a:rPr lang="zh-CN" altLang="en-US" sz="140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提供针对性改进建议</a:t>
            </a:r>
            <a:endParaRPr lang="en-US" altLang="zh-CN" sz="1400">
              <a:solidFill>
                <a:srgbClr val="333333"/>
              </a:solidFill>
              <a:latin typeface="+mn-ea"/>
              <a:cs typeface="+mn-ea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模型迭代</a:t>
            </a:r>
            <a:r>
              <a:rPr lang="en-US" altLang="zh-CN" sz="140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:</a:t>
            </a:r>
            <a:r>
              <a:rPr lang="zh-CN" altLang="en-US" sz="140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引入多任务学习</a:t>
            </a:r>
            <a:r>
              <a:rPr lang="en-US" altLang="zh-CN" sz="140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,</a:t>
            </a:r>
            <a:r>
              <a:rPr lang="zh-CN" altLang="en-US" sz="140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提升中英文评分精度与泛化能力</a:t>
            </a:r>
            <a:endParaRPr lang="en-US" altLang="zh-CN" sz="1400">
              <a:solidFill>
                <a:srgbClr val="333333"/>
              </a:solidFill>
              <a:latin typeface="+mn-ea"/>
              <a:cs typeface="+mn-ea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场景扩展</a:t>
            </a:r>
            <a:r>
              <a:rPr lang="en-US" altLang="zh-CN" sz="140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:</a:t>
            </a:r>
            <a:r>
              <a:rPr lang="zh-CN" altLang="en-US" sz="140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支持更多文本类型</a:t>
            </a:r>
            <a:r>
              <a:rPr lang="en-US" altLang="zh-CN" sz="140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(</a:t>
            </a:r>
            <a:r>
              <a:rPr lang="zh-CN" altLang="en-US" sz="140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如课程报告、论文摘要</a:t>
            </a:r>
            <a:r>
              <a:rPr lang="en-US" altLang="zh-CN" sz="140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)</a:t>
            </a:r>
            <a:r>
              <a:rPr lang="zh-CN" altLang="en-US" sz="1400">
                <a:solidFill>
                  <a:srgbClr val="333333"/>
                </a:solidFill>
                <a:latin typeface="+mn-ea"/>
                <a:cs typeface="+mn-ea"/>
                <a:sym typeface="+mn-ea"/>
              </a:rPr>
              <a:t>的评分</a:t>
            </a:r>
            <a:endParaRPr lang="zh-CN" altLang="en-US" sz="1400">
              <a:solidFill>
                <a:srgbClr val="333333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6" name="矩形 13"/>
          <p:cNvSpPr/>
          <p:nvPr>
            <p:custDataLst>
              <p:tags r:id="rId13"/>
            </p:custDataLst>
          </p:nvPr>
        </p:nvSpPr>
        <p:spPr>
          <a:xfrm>
            <a:off x="8394701" y="1789352"/>
            <a:ext cx="2782241" cy="40924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3"/>
                </a:solidFill>
                <a:latin typeface="+mn-ea"/>
                <a:cs typeface="+mn-ea"/>
                <a:sym typeface="+mn-ea"/>
              </a:rPr>
              <a:t>长期优化</a:t>
            </a:r>
            <a:r>
              <a:rPr lang="en-US" altLang="zh-CN" sz="2000" b="1">
                <a:solidFill>
                  <a:schemeClr val="accent3"/>
                </a:solidFill>
                <a:latin typeface="+mn-ea"/>
                <a:cs typeface="+mn-ea"/>
                <a:sym typeface="+mn-ea"/>
              </a:rPr>
              <a:t>(13 </a:t>
            </a:r>
            <a:r>
              <a:rPr lang="zh-CN" altLang="en-US" sz="2000" b="1">
                <a:solidFill>
                  <a:schemeClr val="accent3"/>
                </a:solidFill>
                <a:latin typeface="+mn-ea"/>
                <a:cs typeface="+mn-ea"/>
                <a:sym typeface="+mn-ea"/>
              </a:rPr>
              <a:t>周后</a:t>
            </a:r>
            <a:r>
              <a:rPr lang="en-US" altLang="zh-CN" sz="2000" b="1">
                <a:solidFill>
                  <a:schemeClr val="accent3"/>
                </a:solidFill>
                <a:latin typeface="+mn-ea"/>
                <a:cs typeface="+mn-ea"/>
                <a:sym typeface="+mn-ea"/>
              </a:rPr>
              <a:t>)</a:t>
            </a:r>
            <a:endParaRPr lang="en-US" altLang="zh-CN" sz="2000" b="1">
              <a:solidFill>
                <a:schemeClr val="accent3"/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预期成果与创新点</a:t>
            </a:r>
            <a:endParaRPr lang="zh-CN" altLang="en-US"/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609600" y="1506996"/>
            <a:ext cx="10972800" cy="2308726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  <a:alpha val="25000"/>
            </a:schemeClr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1341713" y="2329273"/>
            <a:ext cx="9508575" cy="117912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just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核心成果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: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可运行的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“中英文文本作业自动评分系统”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(PC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端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+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安卓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APP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端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)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indent="0" algn="just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技术成果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:BERT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中英文评分模型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(2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个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)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、多文件解析工具、模型轻量化方案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indent="0" algn="just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文档成果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: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项目报告、技术手册、测试报告、数据集说明文档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341713" y="1815588"/>
            <a:ext cx="9508575" cy="46669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+mn-ea"/>
              </a:rPr>
              <a:t>预期成果</a:t>
            </a:r>
            <a:endParaRPr lang="zh-CN" altLang="en-US" sz="24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9" name="圆角矩形 8"/>
          <p:cNvSpPr/>
          <p:nvPr>
            <p:custDataLst>
              <p:tags r:id="rId5"/>
            </p:custDataLst>
          </p:nvPr>
        </p:nvSpPr>
        <p:spPr>
          <a:xfrm>
            <a:off x="609600" y="4057643"/>
            <a:ext cx="10972800" cy="230872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1341713" y="4879920"/>
            <a:ext cx="9508575" cy="117912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just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多场景适配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: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支持中英文双语言、多文件格式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(txt/word/pdf)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、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PC + 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安卓双端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,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覆盖教育场景核心需求</a:t>
            </a:r>
            <a:endParaRPr lang="en-US" altLang="zh-CN" sz="1600" dirty="0">
              <a:solidFill>
                <a:srgbClr val="FFFFFF"/>
              </a:solidFill>
              <a:latin typeface="+mn-ea"/>
              <a:cs typeface="+mn-ea"/>
            </a:endParaRPr>
          </a:p>
          <a:p>
            <a:pPr indent="0" algn="just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FFFFFF"/>
                </a:solidFill>
                <a:latin typeface="+mn-ea"/>
                <a:cs typeface="+mn-ea"/>
              </a:rPr>
              <a:t>技术适配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: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针对移动端优化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 BERT 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模型推理效率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,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解决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 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“无安卓开发经验”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 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的跨界落地难题</a:t>
            </a:r>
            <a:endParaRPr lang="en-US" altLang="zh-CN" sz="1600" dirty="0">
              <a:solidFill>
                <a:srgbClr val="FFFFFF"/>
              </a:solidFill>
              <a:latin typeface="+mn-ea"/>
              <a:cs typeface="+mn-ea"/>
            </a:endParaRPr>
          </a:p>
          <a:p>
            <a:pPr indent="0" algn="just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FFFFFF"/>
                </a:solidFill>
                <a:latin typeface="+mn-ea"/>
                <a:cs typeface="+mn-ea"/>
              </a:rPr>
              <a:t>实用导向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: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聚焦评分精度与用户体验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,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提供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 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“即时评分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 + 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简洁界面”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,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符合教师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 / 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学生实际使用习惯</a:t>
            </a:r>
            <a:endParaRPr lang="zh-CN" altLang="en-US" sz="1600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1341713" y="4366235"/>
            <a:ext cx="9508575" cy="46669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cs typeface="+mn-ea"/>
              </a:rPr>
              <a:t>创新点</a:t>
            </a:r>
            <a:endParaRPr lang="en-US" altLang="zh-CN" sz="2400" b="1" dirty="0">
              <a:solidFill>
                <a:srgbClr val="FFFFFF"/>
              </a:solidFill>
              <a:latin typeface="+mn-ea"/>
              <a:cs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093850" y="3270374"/>
            <a:ext cx="10043122" cy="579632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accent1"/>
                </a:solidFill>
              </a:rPr>
              <a:t>敬请批评指正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altLang="en-US"/>
              <a:t>感谢聆听</a:t>
            </a:r>
            <a:endParaRPr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0800,&quot;width&quot;:19200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4.xml><?xml version="1.0" encoding="utf-8"?>
<p:tagLst xmlns:p="http://schemas.openxmlformats.org/presentationml/2006/main">
  <p:tag name="KSO_WM_UNIT_PRESET_TEXT" val="Simple &amp; Creative"/>
  <p:tag name="KSO_WM_UNIT_NOCLEAR" val="0"/>
  <p:tag name="KSO_WM_UNIT_VALUE" val="4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PA" val="v5.2.11"/>
</p:tagLst>
</file>

<file path=ppt/tags/tag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2*i*2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</p:tagLst>
</file>

<file path=ppt/tags/tag17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BEAUTIFY_FLAG" val="#wm#"/>
  <p:tag name="KSO_WM_UNIT_LINE_FORE_SCHEMECOLOR_INDEX_BRIGHTNESS" val="0"/>
  <p:tag name="KSO_WM_UNIT_LINE_FORE_SCHEMECOLOR_INDEX" val="5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4*i*4"/>
  <p:tag name="KSO_WM_UNIT_LAYERLEVEL" val="1"/>
  <p:tag name="KSO_WM_TAG_VERSION" val="3.0"/>
</p:tagLst>
</file>

<file path=ppt/tags/tag24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3.0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5*i*2"/>
  <p:tag name="KSO_WM_UNIT_LAYERLEVEL" val="1"/>
  <p:tag name="KSO_WM_TAG_VERSION" val="3.0"/>
  <p:tag name="KSO_WM_BEAUTIFY_FLAG" val="#wm#"/>
  <p:tag name="KSO_WM_UNIT_CONTENT_GROUP_TYPE" val="titlestyle"/>
</p:tagLst>
</file>

<file path=ppt/tags/tag3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3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6*i*1"/>
  <p:tag name="KSO_WM_UNIT_LAYERLEVEL" val="1"/>
  <p:tag name="KSO_WM_TAG_VERSION" val="3.0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6*i*2"/>
  <p:tag name="KSO_WM_UNIT_LAYERLEVEL" val="1"/>
  <p:tag name="KSO_WM_TAG_VERSION" val="3.0"/>
  <p:tag name="KSO_WM_UNIT_CONTENT_GROUP_TYPE" val="titlestyle"/>
</p:tagLst>
</file>

<file path=ppt/tags/tag4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4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3.0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7*i*2"/>
  <p:tag name="KSO_WM_UNIT_LAYERLEVEL" val="1"/>
  <p:tag name="KSO_WM_TAG_VERSION" val="3.0"/>
  <p:tag name="KSO_WM_BEAUTIFY_FLAG" val="#wm#"/>
  <p:tag name="KSO_WM_UNIT_CONTENT_GROUP_TYPE" val="titlestyle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8*i*1"/>
  <p:tag name="KSO_WM_UNIT_LAYERLEVEL" val="1"/>
  <p:tag name="KSO_WM_TAG_VERSION" val="3.0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</p:tagLst>
</file>

<file path=ppt/tags/tag5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3.0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CONTENT_GROUP_TYPE" val="titlestyle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  <p:tag name="KSO_WM_UNIT_CONTENT_GROUP_TYPE" val="titlestyle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与聆听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71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  <p:tag name="KSO_WM_UNIT_CONTENT_GROUP_TYPE" val="titlestyle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TEXT_LAYER_COUNT" val="1"/>
  <p:tag name="KSO_WM_TEMPLATE_CATEGORY" val="custom"/>
  <p:tag name="KSO_WM_TEMPLATE_INDEX" val="20230230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CATEGORY" val="custom"/>
  <p:tag name="KSO_WM_TEMPLATE_INDEX" val="20230230"/>
</p:tagLst>
</file>

<file path=ppt/tags/tag82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230"/>
  <p:tag name="KSO_WM_TEMPLATE_THUMBS_INDEX" val="1、11"/>
</p:tagLst>
</file>

<file path=ppt/tags/tag8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84.xml><?xml version="1.0" encoding="utf-8"?>
<p:tagLst xmlns:p="http://schemas.openxmlformats.org/presentationml/2006/main">
  <p:tag name="KSO_WM_UNIT_NOCLEAR" val="0"/>
  <p:tag name="KSO_WM_UNIT_VALUE" val="4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TYPE" val="1"/>
  <p:tag name="KSO_WM_UNIT_PRESET_TEXT" val="Simple &amp; Creative"/>
</p:tagLst>
</file>

<file path=ppt/tags/tag85.xml><?xml version="1.0" encoding="utf-8"?>
<p:tagLst xmlns:p="http://schemas.openxmlformats.org/presentationml/2006/main">
  <p:tag name="KSO_WM_UNIT_INDEX" val="7"/>
  <p:tag name="KSO_WM_UNIT_TYPE" val="f"/>
  <p:tag name="KSO_WM_UNIT_SUBTYPE" val="c"/>
  <p:tag name="KSO_WM_BEAUTIFY_FLAG" val="#wm#"/>
</p:tagLst>
</file>

<file path=ppt/tags/tag86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  <p:tag name="KSO_WM_UNIT_PRESET_TEXT_INDEX" val="-1"/>
  <p:tag name="KSO_WM_UNIT_PRESET_TEXT_LEN" val="0"/>
  <p:tag name="KSO_WM_UNIT_PRESET_TEXT" val="汇报人：稻小壳"/>
</p:tagLst>
</file>

<file path=ppt/tags/tag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CONTENT_GROUP_TYPE" val="contentchip"/>
  <p:tag name="KSO_WM_UNIT_TEXT_TYPE" val="1"/>
  <p:tag name="KSO_WM_UNIT_PRESET_TEXT" val="单击添加文档标题"/>
</p:tagLst>
</file>

<file path=ppt/tags/tag88.xml><?xml version="1.0" encoding="utf-8"?>
<p:tagLst xmlns:p="http://schemas.openxmlformats.org/presentationml/2006/main">
  <p:tag name="KSO_WM_SLIDE_ID" val="custom20230230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230"/>
  <p:tag name="KSO_WM_SLIDE_LAYOUT" val="a_b_f"/>
  <p:tag name="KSO_WM_SLIDE_LAYOUT_CNT" val="1_1_1"/>
  <p:tag name="KSO_WM_TEMPLATE_THUMBS_INDEX" val="1、11"/>
  <p:tag name="KSO_WM_SLIDE_CONTENT_AREA" val="{&quot;left&quot;:&quot;46.45&quot;,&quot;top&quot;:&quot;101.75&quot;,&quot;width&quot;:&quot;613.6&quot;,&quot;height&quot;:&quot;315.15&quot;}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DIAGRAM_GROUP_CODE" val="l1-1"/>
  <p:tag name="KSO_WM_UNIT_PRESET_TEXT_INDEX" val="-1"/>
  <p:tag name="KSO_WM_UNIT_PRESET_TEXT_LEN" val="0"/>
  <p:tag name="KSO_WM_UNIT_USESOURCEFORMAT_APPLY" val="1"/>
  <p:tag name="KSO_WM_UNIT_PRESET_TEXT" val="Contents"/>
</p:tagLst>
</file>

<file path=ppt/tags/tag90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DIAGRAM_GROUP_CODE" val="l1-1"/>
  <p:tag name="KSO_WM_UNIT_PRESET_TEXT_INDEX" val="-1"/>
  <p:tag name="KSO_WM_UNIT_PRESET_TEXT_LEN" val="0"/>
  <p:tag name="KSO_WM_UNIT_TEXT_FILL_FORE_SCHEMECOLOR_INDEX" val="13"/>
  <p:tag name="KSO_WM_UNIT_TEXT_FILL_TYPE" val="1"/>
  <p:tag name="KSO_WM_UNIT_USESOURCEFORMAT_APPLY" val="1"/>
  <p:tag name="KSO_WM_UNIT_PRESET_TEXT" val="目录"/>
</p:tagLst>
</file>

<file path=ppt/tags/tag91.xml><?xml version="1.0" encoding="utf-8"?>
<p:tagLst xmlns:p="http://schemas.openxmlformats.org/presentationml/2006/main">
  <p:tag name="KSO_WM_UNIT_LINE_FORE_SCHEMECOLOR_INDEX_BRIGHTNESS" val="0.6"/>
  <p:tag name="KSO_WM_UNIT_LINE_FORE_SCHEMECOLOR_INDEX" val="1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custom20230230_8*l_h_i*1_1_3"/>
  <p:tag name="KSO_WM_TEMPLATE_CATEGORY" val="custom"/>
  <p:tag name="KSO_WM_TEMPLATE_INDEX" val="20230230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1"/>
  <p:tag name="KSO_WM_DIAGRAM_COLOR_TEXT_CAN_REMOVE" val="n"/>
  <p:tag name="KSO_WM_UNIT_USESOURCEFORMAT_APPLY" val="1"/>
</p:tagLst>
</file>

<file path=ppt/tags/tag9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custom20230230_8*l_h_i*1_1_2"/>
  <p:tag name="KSO_WM_TEMPLATE_CATEGORY" val="custom"/>
  <p:tag name="KSO_WM_TEMPLATE_INDEX" val="20230230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1"/>
  <p:tag name="KSO_WM_DIAGRAM_COLOR_TEXT_CAN_REMOVE" val="n"/>
  <p:tag name="KSO_WM_UNIT_USESOURCEFORMAT_APPLY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0230_8*l_h_i*1_1_1"/>
  <p:tag name="KSO_WM_TEMPLATE_CATEGORY" val="custom"/>
  <p:tag name="KSO_WM_TEMPLATE_INDEX" val="20230230"/>
  <p:tag name="KSO_WM_UNIT_LAYERLEVEL" val="1_1_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DIAGRAM_GROUP_CODE" val="l1-1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USESOURCEFORMAT_APPLY" val="1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custom"/>
  <p:tag name="KSO_WM_TEMPLATE_INDEX" val="20230230"/>
  <p:tag name="KSO_WM_UNIT_LAYERLEVEL" val="1_1_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DIAGRAM_GROUP_CODE" val="l1-1"/>
  <p:tag name="KSO_WM_UNIT_TYPE" val="l_h_f"/>
  <p:tag name="KSO_WM_UNIT_ID" val="custom20230230_8*l_h_f*1_1_1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SUBTYPE" val="a"/>
  <p:tag name="KSO_WM_UNIT_TEXT_TYPE" val="1"/>
  <p:tag name="KSO_WM_UNIT_TEXT_LAYER_COUNT" val="1"/>
  <p:tag name="KSO_WM_UNIT_PRESET_TEXT" val="添加目录标题"/>
  <p:tag name="KSO_WM_UNIT_USESOURCEFORMAT_APPLY" val="1"/>
</p:tagLst>
</file>

<file path=ppt/tags/tag95.xml><?xml version="1.0" encoding="utf-8"?>
<p:tagLst xmlns:p="http://schemas.openxmlformats.org/presentationml/2006/main">
  <p:tag name="KSO_WM_UNIT_LINE_FORE_SCHEMECOLOR_INDEX_BRIGHTNESS" val="0.6"/>
  <p:tag name="KSO_WM_UNIT_LINE_FORE_SCHEMECOLOR_INDEX" val="1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custom20230230_8*l_h_i*1_4_3"/>
  <p:tag name="KSO_WM_TEMPLATE_CATEGORY" val="custom"/>
  <p:tag name="KSO_WM_TEMPLATE_INDEX" val="20230230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1"/>
  <p:tag name="KSO_WM_DIAGRAM_COLOR_TEXT_CAN_REMOVE" val="n"/>
  <p:tag name="KSO_WM_UNIT_USESOURCEFORMAT_APPLY" val="1"/>
</p:tagLst>
</file>

<file path=ppt/tags/tag9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custom20230230_8*l_h_i*1_4_2"/>
  <p:tag name="KSO_WM_TEMPLATE_CATEGORY" val="custom"/>
  <p:tag name="KSO_WM_TEMPLATE_INDEX" val="20230230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1"/>
  <p:tag name="KSO_WM_DIAGRAM_COLOR_TEXT_CAN_REMOVE" val="n"/>
  <p:tag name="KSO_WM_UNIT_USESOURCEFORMAT_APPLY" val="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0230_8*l_h_i*1_4_1"/>
  <p:tag name="KSO_WM_TEMPLATE_CATEGORY" val="custom"/>
  <p:tag name="KSO_WM_TEMPLATE_INDEX" val="20230230"/>
  <p:tag name="KSO_WM_UNIT_LAYERLEVEL" val="1_1_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DIAGRAM_GROUP_CODE" val="l1-1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USESOURCEFORMAT_APPLY" val="1"/>
</p:tagLst>
</file>

<file path=ppt/tags/tag9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custom"/>
  <p:tag name="KSO_WM_TEMPLATE_INDEX" val="20230230"/>
  <p:tag name="KSO_WM_UNIT_LAYERLEVEL" val="1_1_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DIAGRAM_GROUP_CODE" val="l1-1"/>
  <p:tag name="KSO_WM_UNIT_TYPE" val="l_h_f"/>
  <p:tag name="KSO_WM_UNIT_ID" val="custom20230230_8*l_h_f*1_4_1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SUBTYPE" val="a"/>
  <p:tag name="KSO_WM_UNIT_TEXT_TYPE" val="1"/>
  <p:tag name="KSO_WM_UNIT_TEXT_LAYER_COUNT" val="1"/>
  <p:tag name="KSO_WM_UNIT_PRESET_TEXT" val="添加目录标题"/>
  <p:tag name="KSO_WM_UNIT_USESOURCEFORMAT_APPLY" val="1"/>
</p:tagLst>
</file>

<file path=ppt/tags/tag99.xml><?xml version="1.0" encoding="utf-8"?>
<p:tagLst xmlns:p="http://schemas.openxmlformats.org/presentationml/2006/main">
  <p:tag name="KSO_WM_UNIT_LINE_FORE_SCHEMECOLOR_INDEX_BRIGHTNESS" val="0.6"/>
  <p:tag name="KSO_WM_UNIT_LINE_FORE_SCHEMECOLOR_INDEX" val="1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custom20230230_8*l_h_i*1_2_3"/>
  <p:tag name="KSO_WM_TEMPLATE_CATEGORY" val="custom"/>
  <p:tag name="KSO_WM_TEMPLATE_INDEX" val="20230230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1"/>
  <p:tag name="KSO_WM_DIAGRAM_COLOR_TEXT_CAN_REMOVE" val="n"/>
  <p:tag name="KSO_WM_UNIT_USESOURCEFORMAT_APPLY" val="1"/>
</p:tagLst>
</file>

<file path=ppt/tags/tag10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custom20230230_8*l_h_i*1_2_2"/>
  <p:tag name="KSO_WM_TEMPLATE_CATEGORY" val="custom"/>
  <p:tag name="KSO_WM_TEMPLATE_INDEX" val="20230230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1"/>
  <p:tag name="KSO_WM_DIAGRAM_COLOR_TEXT_CAN_REMOVE" val="n"/>
  <p:tag name="KSO_WM_UNIT_USESOURCEFORMAT_APPLY" val="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0230_8*l_h_i*1_2_1"/>
  <p:tag name="KSO_WM_TEMPLATE_CATEGORY" val="custom"/>
  <p:tag name="KSO_WM_TEMPLATE_INDEX" val="20230230"/>
  <p:tag name="KSO_WM_UNIT_LAYERLEVEL" val="1_1_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DIAGRAM_GROUP_CODE" val="l1-1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USESOURCEFORMAT_APPLY" val="1"/>
</p:tagLst>
</file>

<file path=ppt/tags/tag10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custom"/>
  <p:tag name="KSO_WM_TEMPLATE_INDEX" val="20230230"/>
  <p:tag name="KSO_WM_UNIT_LAYERLEVEL" val="1_1_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DIAGRAM_GROUP_CODE" val="l1-1"/>
  <p:tag name="KSO_WM_UNIT_TYPE" val="l_h_f"/>
  <p:tag name="KSO_WM_UNIT_ID" val="custom20230230_8*l_h_f*1_2_1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SUBTYPE" val="a"/>
  <p:tag name="KSO_WM_UNIT_TEXT_TYPE" val="1"/>
  <p:tag name="KSO_WM_UNIT_TEXT_LAYER_COUNT" val="1"/>
  <p:tag name="KSO_WM_UNIT_PRESET_TEXT" val="添加目录标题"/>
  <p:tag name="KSO_WM_UNIT_USESOURCEFORMAT_APPLY" val="1"/>
</p:tagLst>
</file>

<file path=ppt/tags/tag103.xml><?xml version="1.0" encoding="utf-8"?>
<p:tagLst xmlns:p="http://schemas.openxmlformats.org/presentationml/2006/main">
  <p:tag name="KSO_WM_UNIT_LINE_FORE_SCHEMECOLOR_INDEX_BRIGHTNESS" val="0.6"/>
  <p:tag name="KSO_WM_UNIT_LINE_FORE_SCHEMECOLOR_INDEX" val="1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custom20230230_8*l_h_i*1_3_3"/>
  <p:tag name="KSO_WM_TEMPLATE_CATEGORY" val="custom"/>
  <p:tag name="KSO_WM_TEMPLATE_INDEX" val="20230230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1"/>
  <p:tag name="KSO_WM_DIAGRAM_COLOR_TEXT_CAN_REMOVE" val="n"/>
  <p:tag name="KSO_WM_UNIT_USESOURCEFORMAT_APPLY" val="1"/>
</p:tagLst>
</file>

<file path=ppt/tags/tag10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custom20230230_8*l_h_i*1_3_2"/>
  <p:tag name="KSO_WM_TEMPLATE_CATEGORY" val="custom"/>
  <p:tag name="KSO_WM_TEMPLATE_INDEX" val="20230230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1"/>
  <p:tag name="KSO_WM_DIAGRAM_COLOR_TEXT_CAN_REMOVE" val="n"/>
  <p:tag name="KSO_WM_UNIT_USESOURCEFORMAT_APPLY" val="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0230_8*l_h_i*1_3_1"/>
  <p:tag name="KSO_WM_TEMPLATE_CATEGORY" val="custom"/>
  <p:tag name="KSO_WM_TEMPLATE_INDEX" val="20230230"/>
  <p:tag name="KSO_WM_UNIT_LAYERLEVEL" val="1_1_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DIAGRAM_GROUP_CODE" val="l1-1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USESOURCEFORMAT_APPLY" val="1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custom"/>
  <p:tag name="KSO_WM_TEMPLATE_INDEX" val="20230230"/>
  <p:tag name="KSO_WM_UNIT_LAYERLEVEL" val="1_1_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DIAGRAM_GROUP_CODE" val="l1-1"/>
  <p:tag name="KSO_WM_UNIT_TYPE" val="l_h_f"/>
  <p:tag name="KSO_WM_UNIT_ID" val="custom20230230_8*l_h_f*1_3_1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SUBTYPE" val="a"/>
  <p:tag name="KSO_WM_UNIT_TEXT_TYPE" val="1"/>
  <p:tag name="KSO_WM_UNIT_TEXT_LAYER_COUNT" val="1"/>
  <p:tag name="KSO_WM_UNIT_PRESET_TEXT" val="添加目录标题"/>
  <p:tag name="KSO_WM_UNIT_USESOURCEFORMAT_APPLY" val="1"/>
</p:tagLst>
</file>

<file path=ppt/tags/tag107.xml><?xml version="1.0" encoding="utf-8"?>
<p:tagLst xmlns:p="http://schemas.openxmlformats.org/presentationml/2006/main">
  <p:tag name="KSO_WM_UNIT_LINE_FORE_SCHEMECOLOR_INDEX_BRIGHTNESS" val="0.6"/>
  <p:tag name="KSO_WM_UNIT_LINE_FORE_SCHEMECOLOR_INDEX" val="1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3"/>
  <p:tag name="KSO_WM_UNIT_ID" val="custom20230230_8*l_h_i*1_5_3"/>
  <p:tag name="KSO_WM_TEMPLATE_CATEGORY" val="custom"/>
  <p:tag name="KSO_WM_TEMPLATE_INDEX" val="20230230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1"/>
  <p:tag name="KSO_WM_DIAGRAM_COLOR_TEXT_CAN_REMOVE" val="n"/>
  <p:tag name="KSO_WM_UNIT_USESOURCEFORMAT_APPLY" val="1"/>
</p:tagLst>
</file>

<file path=ppt/tags/tag10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custom20230230_8*l_h_i*1_5_2"/>
  <p:tag name="KSO_WM_TEMPLATE_CATEGORY" val="custom"/>
  <p:tag name="KSO_WM_TEMPLATE_INDEX" val="20230230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1"/>
  <p:tag name="KSO_WM_DIAGRAM_COLOR_TEXT_CAN_REMOVE" val="n"/>
  <p:tag name="KSO_WM_UNIT_USESOURCEFORMAT_APPLY" val="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custom20230230_8*l_h_i*1_5_1"/>
  <p:tag name="KSO_WM_TEMPLATE_CATEGORY" val="custom"/>
  <p:tag name="KSO_WM_TEMPLATE_INDEX" val="20230230"/>
  <p:tag name="KSO_WM_UNIT_LAYERLEVEL" val="1_1_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DIAGRAM_GROUP_CODE" val="l1-1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USESOURCEFORMAT_APPLY" val="1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5_1"/>
  <p:tag name="KSO_WM_TEMPLATE_CATEGORY" val="custom"/>
  <p:tag name="KSO_WM_TEMPLATE_INDEX" val="20230230"/>
  <p:tag name="KSO_WM_UNIT_LAYERLEVEL" val="1_1_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DIAGRAM_GROUP_CODE" val="l1-1"/>
  <p:tag name="KSO_WM_UNIT_TYPE" val="l_h_f"/>
  <p:tag name="KSO_WM_UNIT_ID" val="custom20230230_8*l_h_f*1_5_1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SUBTYPE" val="a"/>
  <p:tag name="KSO_WM_UNIT_TEXT_TYPE" val="1"/>
  <p:tag name="KSO_WM_UNIT_TEXT_LAYER_COUNT" val="1"/>
  <p:tag name="KSO_WM_UNIT_PRESET_TEXT" val="添加目录标题"/>
  <p:tag name="KSO_WM_UNIT_USESOURCEFORMAT_APPLY" val="1"/>
</p:tagLst>
</file>

<file path=ppt/tags/tag111.xml><?xml version="1.0" encoding="utf-8"?>
<p:tagLst xmlns:p="http://schemas.openxmlformats.org/presentationml/2006/main">
  <p:tag name="KSO_WM_UNIT_LINE_FORE_SCHEMECOLOR_INDEX_BRIGHTNESS" val="0.6"/>
  <p:tag name="KSO_WM_UNIT_LINE_FORE_SCHEMECOLOR_INDEX" val="1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8_3"/>
  <p:tag name="KSO_WM_UNIT_ID" val="custom20230230_8*l_h_i*1_8_3"/>
  <p:tag name="KSO_WM_TEMPLATE_CATEGORY" val="custom"/>
  <p:tag name="KSO_WM_TEMPLATE_INDEX" val="20230230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1"/>
  <p:tag name="KSO_WM_DIAGRAM_COLOR_TEXT_CAN_REMOVE" val="n"/>
  <p:tag name="KSO_WM_UNIT_USESOURCEFORMAT_APPLY" val="1"/>
</p:tagLst>
</file>

<file path=ppt/tags/tag11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8_2"/>
  <p:tag name="KSO_WM_UNIT_ID" val="custom20230230_8*l_h_i*1_8_2"/>
  <p:tag name="KSO_WM_TEMPLATE_CATEGORY" val="custom"/>
  <p:tag name="KSO_WM_TEMPLATE_INDEX" val="20230230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1"/>
  <p:tag name="KSO_WM_DIAGRAM_COLOR_TEXT_CAN_REMOVE" val="n"/>
  <p:tag name="KSO_WM_UNIT_USESOURCEFORMAT_APPLY" val="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8_1"/>
  <p:tag name="KSO_WM_UNIT_ID" val="custom20230230_8*l_h_i*1_8_1"/>
  <p:tag name="KSO_WM_TEMPLATE_CATEGORY" val="custom"/>
  <p:tag name="KSO_WM_TEMPLATE_INDEX" val="20230230"/>
  <p:tag name="KSO_WM_UNIT_LAYERLEVEL" val="1_1_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DIAGRAM_GROUP_CODE" val="l1-1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USESOURCEFORMAT_APPLY" val="1"/>
</p:tagLst>
</file>

<file path=ppt/tags/tag1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8_1"/>
  <p:tag name="KSO_WM_TEMPLATE_CATEGORY" val="custom"/>
  <p:tag name="KSO_WM_TEMPLATE_INDEX" val="20230230"/>
  <p:tag name="KSO_WM_UNIT_LAYERLEVEL" val="1_1_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DIAGRAM_GROUP_CODE" val="l1-1"/>
  <p:tag name="KSO_WM_UNIT_TYPE" val="l_h_f"/>
  <p:tag name="KSO_WM_UNIT_ID" val="custom20230230_8*l_h_f*1_8_1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SUBTYPE" val="a"/>
  <p:tag name="KSO_WM_UNIT_TEXT_TYPE" val="1"/>
  <p:tag name="KSO_WM_UNIT_TEXT_LAYER_COUNT" val="1"/>
  <p:tag name="KSO_WM_UNIT_PRESET_TEXT" val="添加目录标题"/>
  <p:tag name="KSO_WM_UNIT_USESOURCEFORMAT_APPLY" val="1"/>
</p:tagLst>
</file>

<file path=ppt/tags/tag115.xml><?xml version="1.0" encoding="utf-8"?>
<p:tagLst xmlns:p="http://schemas.openxmlformats.org/presentationml/2006/main">
  <p:tag name="KSO_WM_UNIT_LINE_FORE_SCHEMECOLOR_INDEX_BRIGHTNESS" val="0.6"/>
  <p:tag name="KSO_WM_UNIT_LINE_FORE_SCHEMECOLOR_INDEX" val="1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6_3"/>
  <p:tag name="KSO_WM_UNIT_ID" val="custom20230230_8*l_h_i*1_6_3"/>
  <p:tag name="KSO_WM_TEMPLATE_CATEGORY" val="custom"/>
  <p:tag name="KSO_WM_TEMPLATE_INDEX" val="20230230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1"/>
  <p:tag name="KSO_WM_DIAGRAM_COLOR_TEXT_CAN_REMOVE" val="n"/>
  <p:tag name="KSO_WM_UNIT_USESOURCEFORMAT_APPLY" val="1"/>
</p:tagLst>
</file>

<file path=ppt/tags/tag11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6_2"/>
  <p:tag name="KSO_WM_UNIT_ID" val="custom20230230_8*l_h_i*1_6_2"/>
  <p:tag name="KSO_WM_TEMPLATE_CATEGORY" val="custom"/>
  <p:tag name="KSO_WM_TEMPLATE_INDEX" val="20230230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1"/>
  <p:tag name="KSO_WM_DIAGRAM_COLOR_TEXT_CAN_REMOVE" val="n"/>
  <p:tag name="KSO_WM_UNIT_USESOURCEFORMAT_APPLY" val="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6_1"/>
  <p:tag name="KSO_WM_UNIT_ID" val="custom20230230_8*l_h_i*1_6_1"/>
  <p:tag name="KSO_WM_TEMPLATE_CATEGORY" val="custom"/>
  <p:tag name="KSO_WM_TEMPLATE_INDEX" val="20230230"/>
  <p:tag name="KSO_WM_UNIT_LAYERLEVEL" val="1_1_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DIAGRAM_GROUP_CODE" val="l1-1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USESOURCEFORMAT_APPLY" val="1"/>
</p:tagLst>
</file>

<file path=ppt/tags/tag1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6_1"/>
  <p:tag name="KSO_WM_TEMPLATE_CATEGORY" val="custom"/>
  <p:tag name="KSO_WM_TEMPLATE_INDEX" val="20230230"/>
  <p:tag name="KSO_WM_UNIT_LAYERLEVEL" val="1_1_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DIAGRAM_GROUP_CODE" val="l1-1"/>
  <p:tag name="KSO_WM_UNIT_TYPE" val="l_h_f"/>
  <p:tag name="KSO_WM_UNIT_ID" val="custom20230230_8*l_h_f*1_6_1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SUBTYPE" val="a"/>
  <p:tag name="KSO_WM_UNIT_TEXT_TYPE" val="1"/>
  <p:tag name="KSO_WM_UNIT_TEXT_LAYER_COUNT" val="1"/>
  <p:tag name="KSO_WM_UNIT_PRESET_TEXT" val="添加目录标题"/>
  <p:tag name="KSO_WM_UNIT_USESOURCEFORMAT_APPLY" val="1"/>
</p:tagLst>
</file>

<file path=ppt/tags/tag119.xml><?xml version="1.0" encoding="utf-8"?>
<p:tagLst xmlns:p="http://schemas.openxmlformats.org/presentationml/2006/main">
  <p:tag name="KSO_WM_UNIT_LINE_FORE_SCHEMECOLOR_INDEX_BRIGHTNESS" val="0.6"/>
  <p:tag name="KSO_WM_UNIT_LINE_FORE_SCHEMECOLOR_INDEX" val="1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7_3"/>
  <p:tag name="KSO_WM_UNIT_ID" val="custom20230230_8*l_h_i*1_7_3"/>
  <p:tag name="KSO_WM_TEMPLATE_CATEGORY" val="custom"/>
  <p:tag name="KSO_WM_TEMPLATE_INDEX" val="20230230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1"/>
  <p:tag name="KSO_WM_DIAGRAM_COLOR_TEXT_CAN_REMOVE" val="n"/>
  <p:tag name="KSO_WM_UNIT_USESOURCEFORMAT_APPLY" val="1"/>
</p:tagLst>
</file>

<file path=ppt/tags/tag12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7_2"/>
  <p:tag name="KSO_WM_UNIT_ID" val="custom20230230_8*l_h_i*1_7_2"/>
  <p:tag name="KSO_WM_TEMPLATE_CATEGORY" val="custom"/>
  <p:tag name="KSO_WM_TEMPLATE_INDEX" val="20230230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1"/>
  <p:tag name="KSO_WM_DIAGRAM_COLOR_TEXT_CAN_REMOVE" val="n"/>
  <p:tag name="KSO_WM_UNIT_USESOURCEFORMAT_APPLY" val="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7_1"/>
  <p:tag name="KSO_WM_UNIT_ID" val="custom20230230_8*l_h_i*1_7_1"/>
  <p:tag name="KSO_WM_TEMPLATE_CATEGORY" val="custom"/>
  <p:tag name="KSO_WM_TEMPLATE_INDEX" val="20230230"/>
  <p:tag name="KSO_WM_UNIT_LAYERLEVEL" val="1_1_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DIAGRAM_GROUP_CODE" val="l1-1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USESOURCEFORMAT_APPLY" val="1"/>
</p:tagLst>
</file>

<file path=ppt/tags/tag1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7_1"/>
  <p:tag name="KSO_WM_TEMPLATE_CATEGORY" val="custom"/>
  <p:tag name="KSO_WM_TEMPLATE_INDEX" val="20230230"/>
  <p:tag name="KSO_WM_UNIT_LAYERLEVEL" val="1_1_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DIAGRAM_GROUP_CODE" val="l1-1"/>
  <p:tag name="KSO_WM_UNIT_TYPE" val="l_h_f"/>
  <p:tag name="KSO_WM_UNIT_ID" val="custom20230230_8*l_h_f*1_7_1"/>
  <p:tag name="KSO_WM_DIAGRAM_VERSION" val="3"/>
  <p:tag name="KSO_WM_DIAGRAM_MAX_ITEMCNT" val="8"/>
  <p:tag name="KSO_WM_DIAGRAM_MIN_ITEMCNT" val="2"/>
  <p:tag name="KSO_WM_DIAGRAM_VIRTUALLY_FRAME" val="{&quot;height&quot;:331.1000155018373,&quot;left&quot;:69.75,&quot;top&quot;:152.12499224908132,&quot;width&quot;:860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SUBTYPE" val="a"/>
  <p:tag name="KSO_WM_UNIT_TEXT_TYPE" val="1"/>
  <p:tag name="KSO_WM_UNIT_TEXT_LAYER_COUNT" val="1"/>
  <p:tag name="KSO_WM_UNIT_PRESET_TEXT" val="添加目录标题"/>
  <p:tag name="KSO_WM_UNIT_USESOURCEFORMAT_APPLY" val="1"/>
</p:tagLst>
</file>

<file path=ppt/tags/tag123.xml><?xml version="1.0" encoding="utf-8"?>
<p:tagLst xmlns:p="http://schemas.openxmlformats.org/presentationml/2006/main">
  <p:tag name="KSO_WM_SLIDE_ID" val="custom2023023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230"/>
  <p:tag name="KSO_WM_SLIDE_LAYOUT" val="a_b_l"/>
  <p:tag name="KSO_WM_SLIDE_LAYOUT_CNT" val="1_1_1"/>
  <p:tag name="KSO_WM_SLIDE_TYPE" val="contents"/>
  <p:tag name="KSO_WM_SLIDE_SUBTYPE" val="diag"/>
  <p:tag name="KSO_WM_DIAGRAM_GROUP_CODE" val="l1-1"/>
  <p:tag name="KSO_WM_SLIDE_DIAGTYPE" val="l"/>
</p:tagLst>
</file>

<file path=ppt/tags/tag1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374_1*a*1"/>
  <p:tag name="KSO_WM_TEMPLATE_CATEGORY" val="custom"/>
  <p:tag name="KSO_WM_TEMPLATE_INDEX" val="20233374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3374_1*i*1"/>
  <p:tag name="KSO_WM_TEMPLATE_CATEGORY" val="custom"/>
  <p:tag name="KSO_WM_TEMPLATE_INDEX" val="20233374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3374_1*i*2"/>
  <p:tag name="KSO_WM_TEMPLATE_CATEGORY" val="custom"/>
  <p:tag name="KSO_WM_TEMPLATE_INDEX" val="20233374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3374_1*i*3"/>
  <p:tag name="KSO_WM_TEMPLATE_CATEGORY" val="custom"/>
  <p:tag name="KSO_WM_TEMPLATE_INDEX" val="20233374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3374_1*i*4"/>
  <p:tag name="KSO_WM_TEMPLATE_CATEGORY" val="custom"/>
  <p:tag name="KSO_WM_TEMPLATE_INDEX" val="20233374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374_1*f*1"/>
  <p:tag name="KSO_WM_TEMPLATE_CATEGORY" val="custom"/>
  <p:tag name="KSO_WM_TEMPLATE_INDEX" val="20233374"/>
  <p:tag name="KSO_WM_UNIT_LAYERLEVEL" val="1"/>
  <p:tag name="KSO_WM_TAG_VERSION" val="3.0"/>
  <p:tag name="KSO_WM_BEAUTIFY_FLAG" val="#wm#"/>
  <p:tag name="KSO_WM_UNIT_TEXT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"/>
</p:tagLst>
</file>

<file path=ppt/tags/tag130.xml><?xml version="1.0" encoding="utf-8"?>
<p:tagLst xmlns:p="http://schemas.openxmlformats.org/presentationml/2006/main">
  <p:tag name="KSO_WM_SLIDE_ID" val="custom20233374_1"/>
  <p:tag name="KSO_WM_TEMPLATE_SUBCATEGORY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74"/>
  <p:tag name="KSO_WM_SLIDE_LAYOUT" val="a_f"/>
  <p:tag name="KSO_WM_SLIDE_LAYOUT_CNT" val="1_1"/>
  <p:tag name="KSO_WM_SLIDE_TYPE" val="text"/>
  <p:tag name="KSO_WM_SLIDE_SUBTYPE" val="picTxt"/>
  <p:tag name="KSO_WM_SLIDE_SIZE" val="886*445"/>
  <p:tag name="KSO_WM_SLIDE_POSITION" val="37*28"/>
  <p:tag name="KSO_WM_TEMPLATE_MASTER_TYPE" val="0"/>
  <p:tag name="KSO_WM_TEMPLATE_COLOR_TYPE" val="0"/>
</p:tagLst>
</file>

<file path=ppt/tags/tag13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374_1*a*1"/>
  <p:tag name="KSO_WM_TEMPLATE_CATEGORY" val="custom"/>
  <p:tag name="KSO_WM_TEMPLATE_INDEX" val="20233374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3374_1*i*2"/>
  <p:tag name="KSO_WM_TEMPLATE_CATEGORY" val="custom"/>
  <p:tag name="KSO_WM_TEMPLATE_INDEX" val="20233374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3374_1*i*3"/>
  <p:tag name="KSO_WM_TEMPLATE_CATEGORY" val="custom"/>
  <p:tag name="KSO_WM_TEMPLATE_INDEX" val="20233374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3374_1*i*4"/>
  <p:tag name="KSO_WM_TEMPLATE_CATEGORY" val="custom"/>
  <p:tag name="KSO_WM_TEMPLATE_INDEX" val="20233374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374_1*f*1"/>
  <p:tag name="KSO_WM_TEMPLATE_CATEGORY" val="custom"/>
  <p:tag name="KSO_WM_TEMPLATE_INDEX" val="20233374"/>
  <p:tag name="KSO_WM_UNIT_LAYERLEVEL" val="1"/>
  <p:tag name="KSO_WM_TAG_VERSION" val="3.0"/>
  <p:tag name="KSO_WM_BEAUTIFY_FLAG" val="#wm#"/>
  <p:tag name="KSO_WM_UNIT_TEXT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"/>
</p:tagLst>
</file>

<file path=ppt/tags/tag136.xml><?xml version="1.0" encoding="utf-8"?>
<p:tagLst xmlns:p="http://schemas.openxmlformats.org/presentationml/2006/main">
  <p:tag name="KSO_WM_SLIDE_ID" val="custom20233374_1"/>
  <p:tag name="KSO_WM_TEMPLATE_SUBCATEGORY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74"/>
  <p:tag name="KSO_WM_SLIDE_LAYOUT" val="a_f"/>
  <p:tag name="KSO_WM_SLIDE_LAYOUT_CNT" val="1_1"/>
  <p:tag name="KSO_WM_SLIDE_TYPE" val="text"/>
  <p:tag name="KSO_WM_SLIDE_SUBTYPE" val="picTxt"/>
  <p:tag name="KSO_WM_SLIDE_SIZE" val="886*445"/>
  <p:tag name="KSO_WM_SLIDE_POSITION" val="37*28"/>
  <p:tag name="KSO_WM_TEMPLATE_MASTER_TYPE" val="0"/>
  <p:tag name="KSO_WM_TEMPLATE_COLOR_TYPE" val="0"/>
</p:tagLst>
</file>

<file path=ppt/tags/tag13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374_1*a*1"/>
  <p:tag name="KSO_WM_TEMPLATE_CATEGORY" val="custom"/>
  <p:tag name="KSO_WM_TEMPLATE_INDEX" val="20233374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3374_1*i*2"/>
  <p:tag name="KSO_WM_TEMPLATE_CATEGORY" val="custom"/>
  <p:tag name="KSO_WM_TEMPLATE_INDEX" val="20233374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3374_1*i*3"/>
  <p:tag name="KSO_WM_TEMPLATE_CATEGORY" val="custom"/>
  <p:tag name="KSO_WM_TEMPLATE_INDEX" val="20233374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3374_1*i*4"/>
  <p:tag name="KSO_WM_TEMPLATE_CATEGORY" val="custom"/>
  <p:tag name="KSO_WM_TEMPLATE_INDEX" val="20233374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374_1*f*1"/>
  <p:tag name="KSO_WM_TEMPLATE_CATEGORY" val="custom"/>
  <p:tag name="KSO_WM_TEMPLATE_INDEX" val="20233374"/>
  <p:tag name="KSO_WM_UNIT_LAYERLEVEL" val="1"/>
  <p:tag name="KSO_WM_TAG_VERSION" val="3.0"/>
  <p:tag name="KSO_WM_BEAUTIFY_FLAG" val="#wm#"/>
  <p:tag name="KSO_WM_UNIT_TEXT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"/>
</p:tagLst>
</file>

<file path=ppt/tags/tag142.xml><?xml version="1.0" encoding="utf-8"?>
<p:tagLst xmlns:p="http://schemas.openxmlformats.org/presentationml/2006/main">
  <p:tag name="KSO_WM_SLIDE_ID" val="custom20233374_1"/>
  <p:tag name="KSO_WM_TEMPLATE_SUBCATEGORY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74"/>
  <p:tag name="KSO_WM_SLIDE_LAYOUT" val="a_f"/>
  <p:tag name="KSO_WM_SLIDE_LAYOUT_CNT" val="1_1"/>
  <p:tag name="KSO_WM_SLIDE_TYPE" val="text"/>
  <p:tag name="KSO_WM_SLIDE_SUBTYPE" val="picTxt"/>
  <p:tag name="KSO_WM_SLIDE_SIZE" val="886*445"/>
  <p:tag name="KSO_WM_SLIDE_POSITION" val="37*28"/>
  <p:tag name="KSO_WM_TEMPLATE_MASTER_TYPE" val="0"/>
  <p:tag name="KSO_WM_TEMPLATE_COLOR_TYPE" val="0"/>
</p:tagLst>
</file>

<file path=ppt/tags/tag14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374_1*a*1"/>
  <p:tag name="KSO_WM_TEMPLATE_CATEGORY" val="custom"/>
  <p:tag name="KSO_WM_TEMPLATE_INDEX" val="20233374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3374_1*i*2"/>
  <p:tag name="KSO_WM_TEMPLATE_CATEGORY" val="custom"/>
  <p:tag name="KSO_WM_TEMPLATE_INDEX" val="20233374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3374_1*i*3"/>
  <p:tag name="KSO_WM_TEMPLATE_CATEGORY" val="custom"/>
  <p:tag name="KSO_WM_TEMPLATE_INDEX" val="20233374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3374_1*i*4"/>
  <p:tag name="KSO_WM_TEMPLATE_CATEGORY" val="custom"/>
  <p:tag name="KSO_WM_TEMPLATE_INDEX" val="20233374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374_1*f*1"/>
  <p:tag name="KSO_WM_TEMPLATE_CATEGORY" val="custom"/>
  <p:tag name="KSO_WM_TEMPLATE_INDEX" val="20233374"/>
  <p:tag name="KSO_WM_UNIT_LAYERLEVEL" val="1"/>
  <p:tag name="KSO_WM_TAG_VERSION" val="3.0"/>
  <p:tag name="KSO_WM_BEAUTIFY_FLAG" val="#wm#"/>
  <p:tag name="KSO_WM_UNIT_TEXT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"/>
</p:tagLst>
</file>

<file path=ppt/tags/tag148.xml><?xml version="1.0" encoding="utf-8"?>
<p:tagLst xmlns:p="http://schemas.openxmlformats.org/presentationml/2006/main">
  <p:tag name="KSO_WM_SLIDE_ID" val="custom20233374_1"/>
  <p:tag name="KSO_WM_TEMPLATE_SUBCATEGORY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74"/>
  <p:tag name="KSO_WM_SLIDE_LAYOUT" val="a_f"/>
  <p:tag name="KSO_WM_SLIDE_LAYOUT_CNT" val="1_1"/>
  <p:tag name="KSO_WM_SLIDE_TYPE" val="text"/>
  <p:tag name="KSO_WM_SLIDE_SUBTYPE" val="picTxt"/>
  <p:tag name="KSO_WM_SLIDE_SIZE" val="886*445"/>
  <p:tag name="KSO_WM_SLIDE_POSITION" val="37*28"/>
  <p:tag name="KSO_WM_TEMPLATE_MASTER_TYPE" val="0"/>
  <p:tag name="KSO_WM_TEMPLATE_COLOR_TYPE" val="0"/>
</p:tagLst>
</file>

<file path=ppt/tags/tag14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870_2*a*1"/>
  <p:tag name="KSO_WM_TEMPLATE_CATEGORY" val="diagram"/>
  <p:tag name="KSO_WM_TEMPLATE_INDEX" val="20231870"/>
  <p:tag name="KSO_WM_UNIT_LAYERLEVEL" val="1"/>
  <p:tag name="KSO_WM_TAG_VERSION" val="3.0"/>
  <p:tag name="KSO_WM_BEAUTIFY_FLAG" val="#wm#"/>
  <p:tag name="KSO_WM_UNIT_TEXT_TYPE" val="1"/>
  <p:tag name="KSO_WM_DIAGRAM_GROUP_CODE" val="l1-1"/>
  <p:tag name="KSO_WM_UNIT_PRESET_TEXT" val="单击此处添加页面标题"/>
  <p:tag name="KSO_WM_UNIT_TEXT_FILL_FORE_SCHEMECOLOR_INDEX" val="5"/>
  <p:tag name="KSO_WM_UNIT_TEXT_FILL_TYPE" val="1"/>
  <p:tag name="KSO_WM_UNIT_USESOURCEFORMAT_APPLY" val="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870_1*l_h_i*1_1_1"/>
  <p:tag name="KSO_WM_TEMPLATE_CATEGORY" val="diagram"/>
  <p:tag name="KSO_WM_TEMPLATE_INDEX" val="2023187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.6"/>
  <p:tag name="KSO_WM_DIAGRAM_MAX_ITEMCNT" val="4"/>
  <p:tag name="KSO_WM_DIAGRAM_MIN_ITEMCNT" val="2"/>
  <p:tag name="KSO_WM_DIAGRAM_VIRTUALLY_FRAME" val="{&quot;height&quot;:383.50560342017275,&quot;left&quot;:48,&quot;top&quot;:118.22219828991365,&quot;width&quot;:863.95}"/>
  <p:tag name="KSO_WM_DIAGRAM_COLOR_MATCH_VALUE" val="{&quot;shape&quot;:{&quot;fill&quot;:{&quot;solid&quot;:{&quot;brightness&quot;:0.6000000238418579,&quot;colorType&quot;:1,&quot;foreColorIndex&quot;:5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151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870_1*l_h_f*1_1_1"/>
  <p:tag name="KSO_WM_TEMPLATE_CATEGORY" val="diagram"/>
  <p:tag name="KSO_WM_TEMPLATE_INDEX" val="2023187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，简明扼要地阐述观点。根据需要可酌情增减文字，以便观者准确地理解您传达的思想。单击添加文本具体内容，简明扼要地阐述您的内容观点。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383.50560342017275,&quot;left&quot;:48,&quot;top&quot;:118.22219828991365,&quot;width&quot;:863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5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870_1*l_h_a*1_1_1"/>
  <p:tag name="KSO_WM_TEMPLATE_CATEGORY" val="diagram"/>
  <p:tag name="KSO_WM_TEMPLATE_INDEX" val="2023187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标题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383.50560342017275,&quot;left&quot;:48,&quot;top&quot;:118.22219828991365,&quot;width&quot;:863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870_1*l_h_i*1_2_1"/>
  <p:tag name="KSO_WM_TEMPLATE_CATEGORY" val="diagram"/>
  <p:tag name="KSO_WM_TEMPLATE_INDEX" val="2023187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4"/>
  <p:tag name="KSO_WM_DIAGRAM_MIN_ITEMCNT" val="2"/>
  <p:tag name="KSO_WM_DIAGRAM_VIRTUALLY_FRAME" val="{&quot;height&quot;:383.50560342017275,&quot;left&quot;:48,&quot;top&quot;:118.22219828991365,&quot;width&quot;:863.9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154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870_1*l_h_f*1_2_1"/>
  <p:tag name="KSO_WM_TEMPLATE_CATEGORY" val="diagram"/>
  <p:tag name="KSO_WM_TEMPLATE_INDEX" val="2023187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，简明扼要地阐述您的观点。根据需要可酌情增减文字，以便观者准确地理解您传达的思想。单击此处添加文本具体内容，简明扼要地阐述您的内容观点。"/>
  <p:tag name="KSO_WM_UNIT_TEXT_TYPE" val="1"/>
  <p:tag name="KSO_WM_DIAGRAM_MAX_ITEMCNT" val="4"/>
  <p:tag name="KSO_WM_DIAGRAM_MIN_ITEMCNT" val="2"/>
  <p:tag name="KSO_WM_DIAGRAM_VIRTUALLY_FRAME" val="{&quot;height&quot;:383.50560342017275,&quot;left&quot;:48,&quot;top&quot;:118.22219828991365,&quot;width&quot;:863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5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870_1*l_h_a*1_2_1"/>
  <p:tag name="KSO_WM_TEMPLATE_CATEGORY" val="diagram"/>
  <p:tag name="KSO_WM_TEMPLATE_INDEX" val="2023187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标题"/>
  <p:tag name="KSO_WM_UNIT_TEXT_TYPE" val="1"/>
  <p:tag name="KSO_WM_DIAGRAM_MAX_ITEMCNT" val="4"/>
  <p:tag name="KSO_WM_DIAGRAM_MIN_ITEMCNT" val="2"/>
  <p:tag name="KSO_WM_DIAGRAM_VIRTUALLY_FRAME" val="{&quot;height&quot;:383.50560342017275,&quot;left&quot;:48,&quot;top&quot;:118.22219828991365,&quot;width&quot;:863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56.xml><?xml version="1.0" encoding="utf-8"?>
<p:tagLst xmlns:p="http://schemas.openxmlformats.org/presentationml/2006/main">
  <p:tag name="KSO_WM_SLIDE_ID" val="diagram20231870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diagram"/>
  <p:tag name="KSO_WM_TEMPLATE_INDEX" val="20231870"/>
  <p:tag name="KSO_WM_SLIDE_TYPE" val="text"/>
  <p:tag name="KSO_WM_SLIDE_SUBTYPE" val="diag"/>
  <p:tag name="KSO_WM_SLIDE_SIZE" val="863.95*383.55"/>
  <p:tag name="KSO_WM_SLIDE_POSITION" val="48*118.2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5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066_5*a*1"/>
  <p:tag name="KSO_WM_TEMPLATE_CATEGORY" val="diagram"/>
  <p:tag name="KSO_WM_TEMPLATE_INDEX" val="20231066"/>
  <p:tag name="KSO_WM_UNIT_LAYERLEVEL" val="1"/>
  <p:tag name="KSO_WM_TAG_VERSION" val="3.0"/>
  <p:tag name="KSO_WM_BEAUTIFY_FLAG" val="#wm#"/>
  <p:tag name="KSO_WM_DIAGRAM_GROUP_CODE" val="m1-1"/>
  <p:tag name="KSO_WM_UNIT_PRESET_TEXT" val="单击此处添加标题"/>
  <p:tag name="KSO_WM_UNIT_TEXT_TYPE" val="1"/>
  <p:tag name="KSO_WM_UNIT_TEXT_FILL_FORE_SCHEMECOLOR_INDEX" val="5"/>
  <p:tag name="KSO_WM_UNIT_TEXT_FILL_TYPE" val="1"/>
  <p:tag name="KSO_WM_UNIT_USESOURCEFORMAT_APPLY" val="1"/>
</p:tagLst>
</file>

<file path=ppt/tags/tag15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4*m_h_a*1_1_1"/>
  <p:tag name="KSO_WM_TEMPLATE_CATEGORY" val="diagram"/>
  <p:tag name="KSO_WM_TEMPLATE_INDEX" val="20231066"/>
  <p:tag name="KSO_WM_UNIT_LAYERLEVEL" val="1_1_1"/>
  <p:tag name="KSO_WM_TAG_VERSION" val="3.0"/>
  <p:tag name="KSO_WM_UNIT_TYPE" val="m_h_a"/>
  <p:tag name="KSO_WM_UNIT_INDEX" val="1_1_1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MAX_ITEMCNT" val="6"/>
  <p:tag name="KSO_WM_DIAGRAM_MIN_ITEMCNT" val="2"/>
  <p:tag name="KSO_WM_DIAGRAM_VIRTUALLY_FRAME" val="{&quot;height&quot;:446.76181565935985,&quot;left&quot;:64.02685039370078,&quot;top&quot;:120.37456229339591,&quot;width&quot;:839.6166141732283}"/>
  <p:tag name="KSO_WM_DIAGRAM_COLOR_MATCH_VALUE" val="{&quot;shape&quot;:{&quot;fill&quot;:{&quot;gradient&quot;:[{&quot;brightness&quot;:0.4000000059604645,&quot;colorType&quot;:1,&quot;foreColorIndex&quot;:5,&quot;pos&quot;:0.8999999761581421,&quot;transparency&quot;:0},{&quot;brightness&quot;:0,&quot;colorType&quot;:1,&quot;foreColorIndex&quot;:5,&quot;pos&quot;:0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6"/>
  <p:tag name="KSO_WM_UNIT_TEXT_FILL_TYPE" val="1"/>
  <p:tag name="KSO_WM_UNIT_PRESET_TEXT" val="添加项标题"/>
  <p:tag name="KSO_WM_UNIT_FILL_TYPE" val="3"/>
  <p:tag name="KSO_WM_UNIT_TEXT_TYPE" val="1"/>
  <p:tag name="KSO_WM_UNIT_SHADOW_SCHEMECOLOR_INDEX" val="5"/>
  <p:tag name="KSO_WM_UNIT_USESOURCEFORMAT_APPLY" val="1"/>
</p:tagLst>
</file>

<file path=ppt/tags/tag15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4*m_h_i*1_2_1"/>
  <p:tag name="KSO_WM_TEMPLATE_CATEGORY" val="diagram"/>
  <p:tag name="KSO_WM_TEMPLATE_INDEX" val="20231066"/>
  <p:tag name="KSO_WM_UNIT_LAYERLEVEL" val="1_1_1"/>
  <p:tag name="KSO_WM_TAG_VERSION" val="3.0"/>
  <p:tag name="KSO_WM_UNIT_TYPE" val="m_h_i"/>
  <p:tag name="KSO_WM_UNIT_INDEX" val="1_2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446.76181565935985,&quot;left&quot;:64.02685039370078,&quot;top&quot;:120.37456229339591,&quot;width&quot;:839.6166141732283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6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4*m_h_a*1_2_1"/>
  <p:tag name="KSO_WM_TEMPLATE_CATEGORY" val="diagram"/>
  <p:tag name="KSO_WM_TEMPLATE_INDEX" val="20231066"/>
  <p:tag name="KSO_WM_UNIT_LAYERLEVEL" val="1_1_1"/>
  <p:tag name="KSO_WM_TAG_VERSION" val="3.0"/>
  <p:tag name="KSO_WM_UNIT_TYPE" val="m_h_a"/>
  <p:tag name="KSO_WM_UNIT_INDEX" val="1_2_1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UNIT_VALUE" val="14"/>
  <p:tag name="KSO_WM_DIAGRAM_MAX_ITEMCNT" val="6"/>
  <p:tag name="KSO_WM_DIAGRAM_MIN_ITEMCNT" val="2"/>
  <p:tag name="KSO_WM_DIAGRAM_VIRTUALLY_FRAME" val="{&quot;height&quot;:446.76181565935985,&quot;left&quot;:64.02685039370078,&quot;top&quot;:120.37456229339591,&quot;width&quot;:839.6166141732283}"/>
  <p:tag name="KSO_WM_DIAGRAM_COLOR_MATCH_VALUE" val="{&quot;shape&quot;:{&quot;fill&quot;:{&quot;gradient&quot;:[{&quot;brightness&quot;:0.4000000059604645,&quot;colorType&quot;:1,&quot;foreColorIndex&quot;:6,&quot;pos&quot;:0.8999999761581421,&quot;transparency&quot;:0},{&quot;brightness&quot;:0,&quot;colorType&quot;:1,&quot;foreColorIndex&quot;:6,&quot;pos&quot;:0,&quot;transparency&quot;:0}],&quot;type&quot;:3},&quot;glow&quot;:{&quot;colorType&quot;:0},&quot;line&quot;:{&quot;type&quot;:0},&quot;shadow&quot;:{&quot;brightness&quot;:0,&quot;colorType&quot;:1,&quot;foreColorIndex&quot;:6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添加项标题"/>
  <p:tag name="KSO_WM_UNIT_FILL_TYPE" val="3"/>
  <p:tag name="KSO_WM_UNIT_TEXT_TYPE" val="1"/>
  <p:tag name="KSO_WM_UNIT_SHADOW_SCHEMECOLOR_INDEX" val="6"/>
  <p:tag name="KSO_WM_UNIT_USESOURCEFORMAT_APPLY" val="1"/>
</p:tagLst>
</file>

<file path=ppt/tags/tag16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4*m_h_i*1_3_1"/>
  <p:tag name="KSO_WM_TEMPLATE_CATEGORY" val="diagram"/>
  <p:tag name="KSO_WM_TEMPLATE_INDEX" val="20231066"/>
  <p:tag name="KSO_WM_UNIT_LAYERLEVEL" val="1_1_1"/>
  <p:tag name="KSO_WM_TAG_VERSION" val="3.0"/>
  <p:tag name="KSO_WM_UNIT_TYPE" val="m_h_i"/>
  <p:tag name="KSO_WM_UNIT_INDEX" val="1_3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446.76181565935985,&quot;left&quot;:64.02685039370078,&quot;top&quot;:120.37456229339591,&quot;width&quot;:839.6166141732283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4*m_h_a*1_3_1"/>
  <p:tag name="KSO_WM_TEMPLATE_CATEGORY" val="diagram"/>
  <p:tag name="KSO_WM_TEMPLATE_INDEX" val="20231066"/>
  <p:tag name="KSO_WM_UNIT_LAYERLEVEL" val="1_1_1"/>
  <p:tag name="KSO_WM_TAG_VERSION" val="3.0"/>
  <p:tag name="KSO_WM_UNIT_TYPE" val="m_h_a"/>
  <p:tag name="KSO_WM_UNIT_INDEX" val="1_3_1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UNIT_VALUE" val="7"/>
  <p:tag name="KSO_WM_DIAGRAM_MAX_ITEMCNT" val="6"/>
  <p:tag name="KSO_WM_DIAGRAM_MIN_ITEMCNT" val="2"/>
  <p:tag name="KSO_WM_DIAGRAM_VIRTUALLY_FRAME" val="{&quot;height&quot;:446.76181565935985,&quot;left&quot;:64.02685039370078,&quot;top&quot;:120.37456229339591,&quot;width&quot;:839.6166141732283}"/>
  <p:tag name="KSO_WM_DIAGRAM_COLOR_MATCH_VALUE" val="{&quot;shape&quot;:{&quot;fill&quot;:{&quot;gradient&quot;:[{&quot;brightness&quot;:0.4000000059604645,&quot;colorType&quot;:1,&quot;foreColorIndex&quot;:7,&quot;pos&quot;:0.8999999761581421,&quot;transparency&quot;:0},{&quot;brightness&quot;:0,&quot;colorType&quot;:1,&quot;foreColorIndex&quot;:7,&quot;pos&quot;:0,&quot;transparency&quot;:0}],&quot;type&quot;:3},&quot;glow&quot;:{&quot;colorType&quot;:0},&quot;line&quot;:{&quot;type&quot;:0},&quot;shadow&quot;:{&quot;brightness&quot;:0,&quot;colorType&quot;:1,&quot;foreColorIndex&quot;:7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添加项标题"/>
  <p:tag name="KSO_WM_UNIT_FILL_TYPE" val="3"/>
  <p:tag name="KSO_WM_UNIT_TEXT_TYPE" val="1"/>
  <p:tag name="KSO_WM_UNIT_SHADOW_SCHEMECOLOR_INDEX" val="7"/>
  <p:tag name="KSO_WM_UNIT_USESOURCEFORMAT_APPLY" val="1"/>
</p:tagLst>
</file>

<file path=ppt/tags/tag16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4*m_h_i*1_4_1"/>
  <p:tag name="KSO_WM_TEMPLATE_CATEGORY" val="diagram"/>
  <p:tag name="KSO_WM_TEMPLATE_INDEX" val="20231066"/>
  <p:tag name="KSO_WM_UNIT_LAYERLEVEL" val="1_1_1"/>
  <p:tag name="KSO_WM_TAG_VERSION" val="3.0"/>
  <p:tag name="KSO_WM_UNIT_TYPE" val="m_h_i"/>
  <p:tag name="KSO_WM_UNIT_INDEX" val="1_4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446.76181565935985,&quot;left&quot;:64.02685039370078,&quot;top&quot;:120.37456229339591,&quot;width&quot;:839.6166141732283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6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4*m_h_a*1_4_1"/>
  <p:tag name="KSO_WM_TEMPLATE_CATEGORY" val="diagram"/>
  <p:tag name="KSO_WM_TEMPLATE_INDEX" val="20231066"/>
  <p:tag name="KSO_WM_UNIT_LAYERLEVEL" val="1_1_1"/>
  <p:tag name="KSO_WM_TAG_VERSION" val="3.0"/>
  <p:tag name="KSO_WM_UNIT_TYPE" val="m_h_a"/>
  <p:tag name="KSO_WM_UNIT_INDEX" val="1_4_1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UNIT_VALUE" val="7"/>
  <p:tag name="KSO_WM_DIAGRAM_MAX_ITEMCNT" val="6"/>
  <p:tag name="KSO_WM_DIAGRAM_MIN_ITEMCNT" val="2"/>
  <p:tag name="KSO_WM_DIAGRAM_VIRTUALLY_FRAME" val="{&quot;height&quot;:446.76181565935985,&quot;left&quot;:64.02685039370078,&quot;top&quot;:120.37456229339591,&quot;width&quot;:839.6166141732283}"/>
  <p:tag name="KSO_WM_DIAGRAM_COLOR_MATCH_VALUE" val="{&quot;shape&quot;:{&quot;fill&quot;:{&quot;gradient&quot;:[{&quot;brightness&quot;:0.4000000059604645,&quot;colorType&quot;:1,&quot;foreColorIndex&quot;:8,&quot;pos&quot;:0.8999999761581421,&quot;transparency&quot;:0},{&quot;brightness&quot;:0,&quot;colorType&quot;:1,&quot;foreColorIndex&quot;:8,&quot;pos&quot;:0,&quot;transparency&quot;:0}],&quot;type&quot;:3},&quot;glow&quot;:{&quot;colorType&quot;:0},&quot;line&quot;:{&quot;type&quot;:0},&quot;shadow&quot;:{&quot;brightness&quot;:0,&quot;colorType&quot;:1,&quot;foreColorIndex&quot;:8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添加项标题"/>
  <p:tag name="KSO_WM_UNIT_FILL_TYPE" val="3"/>
  <p:tag name="KSO_WM_UNIT_TEXT_TYPE" val="1"/>
  <p:tag name="KSO_WM_UNIT_SHADOW_SCHEMECOLOR_INDEX" val="8"/>
  <p:tag name="KSO_WM_UNIT_USESOURCEFORMAT_APPLY" val="1"/>
</p:tagLst>
</file>

<file path=ppt/tags/tag16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4*m_h_i*1_5_1"/>
  <p:tag name="KSO_WM_TEMPLATE_CATEGORY" val="diagram"/>
  <p:tag name="KSO_WM_TEMPLATE_INDEX" val="20231066"/>
  <p:tag name="KSO_WM_UNIT_LAYERLEVEL" val="1_1_1"/>
  <p:tag name="KSO_WM_TAG_VERSION" val="3.0"/>
  <p:tag name="KSO_WM_UNIT_TYPE" val="m_h_i"/>
  <p:tag name="KSO_WM_UNIT_INDEX" val="1_5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446.76181565935985,&quot;left&quot;:64.02685039370078,&quot;top&quot;:120.37456229339591,&quot;width&quot;:839.6166141732283}"/>
  <p:tag name="KSO_WM_DIAGRAM_COLOR_MATCH_VALUE" val="{&quot;shape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9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6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4*m_h_a*1_5_1"/>
  <p:tag name="KSO_WM_TEMPLATE_CATEGORY" val="diagram"/>
  <p:tag name="KSO_WM_TEMPLATE_INDEX" val="20231066"/>
  <p:tag name="KSO_WM_UNIT_LAYERLEVEL" val="1_1_1"/>
  <p:tag name="KSO_WM_TAG_VERSION" val="3.0"/>
  <p:tag name="KSO_WM_UNIT_TYPE" val="m_h_a"/>
  <p:tag name="KSO_WM_UNIT_INDEX" val="1_5_1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UNIT_VALUE" val="24"/>
  <p:tag name="KSO_WM_DIAGRAM_MAX_ITEMCNT" val="6"/>
  <p:tag name="KSO_WM_DIAGRAM_MIN_ITEMCNT" val="2"/>
  <p:tag name="KSO_WM_DIAGRAM_VIRTUALLY_FRAME" val="{&quot;height&quot;:446.76181565935985,&quot;left&quot;:64.02685039370078,&quot;top&quot;:120.37456229339591,&quot;width&quot;:839.6166141732283}"/>
  <p:tag name="KSO_WM_DIAGRAM_COLOR_MATCH_VALUE" val="{&quot;shape&quot;:{&quot;fill&quot;:{&quot;gradient&quot;:[{&quot;brightness&quot;:0.4000000059604645,&quot;colorType&quot;:1,&quot;foreColorIndex&quot;:9,&quot;pos&quot;:0.25,&quot;transparency&quot;:0},{&quot;brightness&quot;:0,&quot;colorType&quot;:1,&quot;foreColorIndex&quot;:9,&quot;pos&quot;:0.8999999761581421,&quot;transparency&quot;:0}],&quot;type&quot;:3},&quot;glow&quot;:{&quot;colorType&quot;:0},&quot;line&quot;:{&quot;type&quot;:0},&quot;shadow&quot;:{&quot;brightness&quot;:0,&quot;colorType&quot;:1,&quot;foreColorIndex&quot;:8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添加项标题"/>
  <p:tag name="KSO_WM_UNIT_FILL_TYPE" val="3"/>
  <p:tag name="KSO_WM_UNIT_TEXT_TYPE" val="1"/>
  <p:tag name="KSO_WM_UNIT_SHADOW_SCHEMECOLOR_INDEX" val="9"/>
  <p:tag name="KSO_WM_UNIT_USESOURCEFORMAT_APPLY" val="1"/>
</p:tagLst>
</file>

<file path=ppt/tags/tag16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1066_4*m_h_f*1_1_1"/>
  <p:tag name="KSO_WM_TEMPLATE_CATEGORY" val="diagram"/>
  <p:tag name="KSO_WM_TEMPLATE_INDEX" val="20231066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VALUE" val="40"/>
  <p:tag name="KSO_WM_DIAGRAM_MAX_ITEMCNT" val="6"/>
  <p:tag name="KSO_WM_DIAGRAM_MIN_ITEMCNT" val="2"/>
  <p:tag name="KSO_WM_DIAGRAM_VIRTUALLY_FRAME" val="{&quot;height&quot;:446.76181565935985,&quot;left&quot;:64.02685039370078,&quot;top&quot;:120.37456229339591,&quot;width&quot;:839.616614173228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阐述观点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68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1066_4*m_h_f*1_2_1"/>
  <p:tag name="KSO_WM_TEMPLATE_CATEGORY" val="diagram"/>
  <p:tag name="KSO_WM_TEMPLATE_INDEX" val="20231066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VALUE" val="40"/>
  <p:tag name="KSO_WM_DIAGRAM_MAX_ITEMCNT" val="6"/>
  <p:tag name="KSO_WM_DIAGRAM_MIN_ITEMCNT" val="2"/>
  <p:tag name="KSO_WM_DIAGRAM_VIRTUALLY_FRAME" val="{&quot;height&quot;:446.76181565935985,&quot;left&quot;:64.02685039370078,&quot;top&quot;:120.37456229339591,&quot;width&quot;:839.616614173228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阐述观点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69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1066_4*m_h_f*1_3_1"/>
  <p:tag name="KSO_WM_TEMPLATE_CATEGORY" val="diagram"/>
  <p:tag name="KSO_WM_TEMPLATE_INDEX" val="20231066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VALUE" val="40"/>
  <p:tag name="KSO_WM_DIAGRAM_MAX_ITEMCNT" val="6"/>
  <p:tag name="KSO_WM_DIAGRAM_MIN_ITEMCNT" val="2"/>
  <p:tag name="KSO_WM_DIAGRAM_VIRTUALLY_FRAME" val="{&quot;height&quot;:446.76181565935985,&quot;left&quot;:64.02685039370078,&quot;top&quot;:120.37456229339591,&quot;width&quot;:839.616614173228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阐述观点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70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4_1"/>
  <p:tag name="KSO_WM_UNIT_ID" val="diagram20231066_4*m_h_f*1_4_1"/>
  <p:tag name="KSO_WM_TEMPLATE_CATEGORY" val="diagram"/>
  <p:tag name="KSO_WM_TEMPLATE_INDEX" val="20231066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VALUE" val="40"/>
  <p:tag name="KSO_WM_DIAGRAM_MAX_ITEMCNT" val="6"/>
  <p:tag name="KSO_WM_DIAGRAM_MIN_ITEMCNT" val="2"/>
  <p:tag name="KSO_WM_DIAGRAM_VIRTUALLY_FRAME" val="{&quot;height&quot;:446.76181565935985,&quot;left&quot;:64.02685039370078,&quot;top&quot;:120.37456229339591,&quot;width&quot;:839.616614173228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阐述观点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71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5_1"/>
  <p:tag name="KSO_WM_UNIT_ID" val="diagram20231066_4*m_h_f*1_5_1"/>
  <p:tag name="KSO_WM_TEMPLATE_CATEGORY" val="diagram"/>
  <p:tag name="KSO_WM_TEMPLATE_INDEX" val="20231066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VALUE" val="40"/>
  <p:tag name="KSO_WM_DIAGRAM_MAX_ITEMCNT" val="6"/>
  <p:tag name="KSO_WM_DIAGRAM_MIN_ITEMCNT" val="2"/>
  <p:tag name="KSO_WM_DIAGRAM_VIRTUALLY_FRAME" val="{&quot;height&quot;:446.76181565935985,&quot;left&quot;:64.02685039370078,&quot;top&quot;:120.37456229339591,&quot;width&quot;:839.616614173228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阐述观点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72.xml><?xml version="1.0" encoding="utf-8"?>
<p:tagLst xmlns:p="http://schemas.openxmlformats.org/presentationml/2006/main">
  <p:tag name="KSO_WM_SLIDE_ID" val="diagram20231066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1066"/>
  <p:tag name="KSO_WM_SLIDE_TYPE" val="text"/>
  <p:tag name="KSO_WM_SLIDE_SUBTYPE" val="diag"/>
  <p:tag name="KSO_WM_SLIDE_SIZE" val="794.1*345"/>
  <p:tag name="KSO_WM_SLIDE_POSITION" val="66.9*133.5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1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799_2*a*1"/>
  <p:tag name="KSO_WM_TEMPLATE_CATEGORY" val="diagram"/>
  <p:tag name="KSO_WM_TEMPLATE_INDEX" val="20231799"/>
  <p:tag name="KSO_WM_UNIT_LAYERLEVEL" val="1"/>
  <p:tag name="KSO_WM_TAG_VERSION" val="3.0"/>
  <p:tag name="KSO_WM_BEAUTIFY_FLAG" val="#wm#"/>
  <p:tag name="KSO_WM_UNIT_PRESET_TEXT" val="单击此处添加标题"/>
  <p:tag name="KSO_WM_UNIT_TEXT_FILL_FORE_SCHEMECOLOR_INDEX" val="5"/>
  <p:tag name="KSO_WM_UNIT_TEXT_FILL_TYPE" val="1"/>
  <p:tag name="KSO_WM_UNIT_USESOURCEFORMAT_APPLY" val="1"/>
</p:tagLst>
</file>

<file path=ppt/tags/tag17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diagram20231799_2*l_h_i*1_1_2"/>
  <p:tag name="KSO_WM_TEMPLATE_CATEGORY" val="diagram"/>
  <p:tag name="KSO_WM_TEMPLATE_INDEX" val="20231799"/>
  <p:tag name="KSO_WM_UNIT_LAYERLEVEL" val="1_1_1"/>
  <p:tag name="KSO_WM_TAG_VERSION" val="3.0"/>
  <p:tag name="KSO_WM_DIAGRAM_GROUP_CODE" val="l1-1"/>
  <p:tag name="KSO_WM_DIAGRAM_VERSION" val="3"/>
  <p:tag name="KSO_WM_DIAGRAM_COLOR_TRICK" val="3"/>
  <p:tag name="KSO_WM_DIAGRAM_COLOR_TEXT_CAN_REMOVE" val="n"/>
  <p:tag name="KSO_WM_DIAGRAM_MAX_ITEMCNT" val="3"/>
  <p:tag name="KSO_WM_DIAGRAM_MIN_ITEMCNT" val="2"/>
  <p:tag name="KSO_WM_DIAGRAM_VIRTUALLY_FRAME" val="{&quot;height&quot;:375.5104028463164,&quot;left&quot;:54.80007874015746,&quot;top&quot;:110.41369621463704,&quot;width&quot;:850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-0.25,&quot;colorType&quot;:1,&quot;foreColorIndex&quot;:14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SHADOW_SCHEMECOLOR_INDEX" val="14"/>
  <p:tag name="KSO_WM_UNIT_TEXT_FILL_FORE_SCHEMECOLOR_INDEX" val="13"/>
  <p:tag name="KSO_WM_UNIT_TEXT_FILL_TYPE" val="1"/>
  <p:tag name="KSO_WM_UNIT_USESOURCEFORMAT_APPLY" val="1"/>
</p:tagLst>
</file>

<file path=ppt/tags/tag17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diagram20231799_2*l_h_i*1_1_1"/>
  <p:tag name="KSO_WM_TEMPLATE_CATEGORY" val="diagram"/>
  <p:tag name="KSO_WM_TEMPLATE_INDEX" val="20231799"/>
  <p:tag name="KSO_WM_UNIT_LAYERLEVEL" val="1_1_1"/>
  <p:tag name="KSO_WM_TAG_VERSION" val="3.0"/>
  <p:tag name="KSO_WM_DIAGRAM_GROUP_CODE" val="l1-1"/>
  <p:tag name="KSO_WM_DIAGRAM_VERSION" val="3"/>
  <p:tag name="KSO_WM_DIAGRAM_COLOR_TRICK" val="3"/>
  <p:tag name="KSO_WM_DIAGRAM_COLOR_TEXT_CAN_REMOVE" val="n"/>
  <p:tag name="KSO_WM_DIAGRAM_MAX_ITEMCNT" val="3"/>
  <p:tag name="KSO_WM_DIAGRAM_MIN_ITEMCNT" val="2"/>
  <p:tag name="KSO_WM_DIAGRAM_VIRTUALLY_FRAME" val="{&quot;height&quot;:375.5104028463164,&quot;left&quot;:54.80007874015746,&quot;top&quot;:110.41369621463704,&quot;width&quot;:850.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.25,&quot;colorType&quot;:1,&quot;foreColorIndex&quot;:13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13"/>
  <p:tag name="KSO_WM_UNIT_USESOURCEFORMAT_APPLY" val="1"/>
</p:tagLst>
</file>

<file path=ppt/tags/tag17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799_2*l_h_f*1_1_1"/>
  <p:tag name="KSO_WM_TEMPLATE_CATEGORY" val="diagram"/>
  <p:tag name="KSO_WM_TEMPLATE_INDEX" val="20231799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3"/>
  <p:tag name="KSO_WM_DIAGRAM_COLOR_TEXT_CAN_REMOVE" val="n"/>
  <p:tag name="KSO_WM_DIAGRAM_GROUP_CODE" val="l1-1"/>
  <p:tag name="KSO_WM_DIAGRAM_MAX_ITEMCNT" val="3"/>
  <p:tag name="KSO_WM_DIAGRAM_MIN_ITEMCNT" val="2"/>
  <p:tag name="KSO_WM_DIAGRAM_VIRTUALLY_FRAME" val="{&quot;height&quot;:375.5104028463164,&quot;left&quot;:54.80007874015746,&quot;top&quot;:110.41369621463704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333333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"/>
  <p:tag name="KSO_WM_UNIT_USESOURCEFORMAT_APPLY" val="1"/>
</p:tagLst>
</file>

<file path=ppt/tags/tag1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799_2*l_h_a*1_1_1"/>
  <p:tag name="KSO_WM_TEMPLATE_CATEGORY" val="diagram"/>
  <p:tag name="KSO_WM_TEMPLATE_INDEX" val="2023179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3"/>
  <p:tag name="KSO_WM_DIAGRAM_COLOR_TEXT_CAN_REMOVE" val="n"/>
  <p:tag name="KSO_WM_DIAGRAM_GROUP_CODE" val="l1-1"/>
  <p:tag name="KSO_WM_DIAGRAM_MAX_ITEMCNT" val="3"/>
  <p:tag name="KSO_WM_DIAGRAM_MIN_ITEMCNT" val="2"/>
  <p:tag name="KSO_WM_DIAGRAM_VIRTUALLY_FRAME" val="{&quot;height&quot;:375.5104028463164,&quot;left&quot;:54.80007874015746,&quot;top&quot;:110.41369621463704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项标题"/>
  <p:tag name="KSO_WM_UNIT_USESOURCEFORMAT_APPLY" val="1"/>
</p:tagLst>
</file>

<file path=ppt/tags/tag17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31799_2*l_h_i*1_2_2"/>
  <p:tag name="KSO_WM_TEMPLATE_CATEGORY" val="diagram"/>
  <p:tag name="KSO_WM_TEMPLATE_INDEX" val="20231799"/>
  <p:tag name="KSO_WM_UNIT_LAYERLEVEL" val="1_1_1"/>
  <p:tag name="KSO_WM_TAG_VERSION" val="3.0"/>
  <p:tag name="KSO_WM_DIAGRAM_GROUP_CODE" val="l1-1"/>
  <p:tag name="KSO_WM_DIAGRAM_VERSION" val="3"/>
  <p:tag name="KSO_WM_DIAGRAM_COLOR_TRICK" val="3"/>
  <p:tag name="KSO_WM_DIAGRAM_COLOR_TEXT_CAN_REMOVE" val="n"/>
  <p:tag name="KSO_WM_DIAGRAM_MAX_ITEMCNT" val="3"/>
  <p:tag name="KSO_WM_DIAGRAM_MIN_ITEMCNT" val="2"/>
  <p:tag name="KSO_WM_DIAGRAM_VIRTUALLY_FRAME" val="{&quot;height&quot;:375.5104028463164,&quot;left&quot;:54.80007874015746,&quot;top&quot;:110.41369621463704,&quot;width&quot;:850.4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brightness&quot;:-0.25,&quot;colorType&quot;:1,&quot;foreColorIndex&quot;:14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UNIT_SHADOW_SCHEMECOLOR_INDEX" val="14"/>
  <p:tag name="KSO_WM_UNIT_TEXT_FILL_FORE_SCHEMECOLOR_INDEX" val="13"/>
  <p:tag name="KSO_WM_UNIT_TEXT_FILL_TYPE" val="1"/>
  <p:tag name="KSO_WM_UNIT_USESOURCEFORMAT_APPLY" val="1"/>
</p:tagLst>
</file>

<file path=ppt/tags/tag17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31799_2*l_h_i*1_2_1"/>
  <p:tag name="KSO_WM_TEMPLATE_CATEGORY" val="diagram"/>
  <p:tag name="KSO_WM_TEMPLATE_INDEX" val="20231799"/>
  <p:tag name="KSO_WM_UNIT_LAYERLEVEL" val="1_1_1"/>
  <p:tag name="KSO_WM_TAG_VERSION" val="3.0"/>
  <p:tag name="KSO_WM_DIAGRAM_GROUP_CODE" val="l1-1"/>
  <p:tag name="KSO_WM_DIAGRAM_VERSION" val="3"/>
  <p:tag name="KSO_WM_DIAGRAM_COLOR_TRICK" val="3"/>
  <p:tag name="KSO_WM_DIAGRAM_COLOR_TEXT_CAN_REMOVE" val="n"/>
  <p:tag name="KSO_WM_DIAGRAM_MAX_ITEMCNT" val="3"/>
  <p:tag name="KSO_WM_DIAGRAM_MIN_ITEMCNT" val="2"/>
  <p:tag name="KSO_WM_DIAGRAM_VIRTUALLY_FRAME" val="{&quot;height&quot;:375.5104028463164,&quot;left&quot;:54.80007874015746,&quot;top&quot;:110.41369621463704,&quot;width&quot;:850.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.25,&quot;colorType&quot;:1,&quot;foreColorIndex&quot;:13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13"/>
  <p:tag name="KSO_WM_UNIT_USESOURCEFORMAT_APPLY" val="1"/>
</p:tagLst>
</file>

<file path=ppt/tags/tag18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799_2*l_h_f*1_2_1"/>
  <p:tag name="KSO_WM_TEMPLATE_CATEGORY" val="diagram"/>
  <p:tag name="KSO_WM_TEMPLATE_INDEX" val="20231799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3"/>
  <p:tag name="KSO_WM_DIAGRAM_COLOR_TEXT_CAN_REMOVE" val="n"/>
  <p:tag name="KSO_WM_DIAGRAM_GROUP_CODE" val="l1-1"/>
  <p:tag name="KSO_WM_DIAGRAM_MAX_ITEMCNT" val="3"/>
  <p:tag name="KSO_WM_DIAGRAM_MIN_ITEMCNT" val="2"/>
  <p:tag name="KSO_WM_DIAGRAM_VIRTUALLY_FRAME" val="{&quot;height&quot;:375.5104028463164,&quot;left&quot;:54.80007874015746,&quot;top&quot;:110.41369621463704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333333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"/>
  <p:tag name="KSO_WM_UNIT_USESOURCEFORMAT_APPLY" val="1"/>
</p:tagLst>
</file>

<file path=ppt/tags/tag1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799_2*l_h_a*1_2_1"/>
  <p:tag name="KSO_WM_TEMPLATE_CATEGORY" val="diagram"/>
  <p:tag name="KSO_WM_TEMPLATE_INDEX" val="2023179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3"/>
  <p:tag name="KSO_WM_DIAGRAM_COLOR_TEXT_CAN_REMOVE" val="n"/>
  <p:tag name="KSO_WM_DIAGRAM_GROUP_CODE" val="l1-1"/>
  <p:tag name="KSO_WM_DIAGRAM_MAX_ITEMCNT" val="3"/>
  <p:tag name="KSO_WM_DIAGRAM_MIN_ITEMCNT" val="2"/>
  <p:tag name="KSO_WM_DIAGRAM_VIRTUALLY_FRAME" val="{&quot;height&quot;:375.5104028463164,&quot;left&quot;:54.80007874015746,&quot;top&quot;:110.41369621463704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项标题"/>
  <p:tag name="KSO_WM_UNIT_USESOURCEFORMAT_APPLY" val="1"/>
</p:tagLst>
</file>

<file path=ppt/tags/tag1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31799_2*l_h_i*1_3_2"/>
  <p:tag name="KSO_WM_TEMPLATE_CATEGORY" val="diagram"/>
  <p:tag name="KSO_WM_TEMPLATE_INDEX" val="20231799"/>
  <p:tag name="KSO_WM_UNIT_LAYERLEVEL" val="1_1_1"/>
  <p:tag name="KSO_WM_TAG_VERSION" val="3.0"/>
  <p:tag name="KSO_WM_DIAGRAM_GROUP_CODE" val="l1-1"/>
  <p:tag name="KSO_WM_DIAGRAM_VERSION" val="3"/>
  <p:tag name="KSO_WM_DIAGRAM_COLOR_TRICK" val="3"/>
  <p:tag name="KSO_WM_DIAGRAM_COLOR_TEXT_CAN_REMOVE" val="n"/>
  <p:tag name="KSO_WM_DIAGRAM_MAX_ITEMCNT" val="3"/>
  <p:tag name="KSO_WM_DIAGRAM_MIN_ITEMCNT" val="2"/>
  <p:tag name="KSO_WM_DIAGRAM_VIRTUALLY_FRAME" val="{&quot;height&quot;:375.5104028463164,&quot;left&quot;:54.80007874015746,&quot;top&quot;:110.41369621463704,&quot;width&quot;:850.4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brightness&quot;:-0.25,&quot;colorType&quot;:1,&quot;foreColorIndex&quot;:14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0"/>
  <p:tag name="KSO_WM_UNIT_SHADOW_SCHEMECOLOR_INDEX" val="14"/>
  <p:tag name="KSO_WM_UNIT_TEXT_FILL_FORE_SCHEMECOLOR_INDEX" val="13"/>
  <p:tag name="KSO_WM_UNIT_TEXT_FILL_TYPE" val="1"/>
  <p:tag name="KSO_WM_UNIT_USESOURCEFORMAT_APPLY" val="1"/>
</p:tagLst>
</file>

<file path=ppt/tags/tag1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31799_2*l_h_i*1_3_1"/>
  <p:tag name="KSO_WM_TEMPLATE_CATEGORY" val="diagram"/>
  <p:tag name="KSO_WM_TEMPLATE_INDEX" val="20231799"/>
  <p:tag name="KSO_WM_UNIT_LAYERLEVEL" val="1_1_1"/>
  <p:tag name="KSO_WM_TAG_VERSION" val="3.0"/>
  <p:tag name="KSO_WM_DIAGRAM_GROUP_CODE" val="l1-1"/>
  <p:tag name="KSO_WM_DIAGRAM_VERSION" val="3"/>
  <p:tag name="KSO_WM_DIAGRAM_COLOR_TRICK" val="3"/>
  <p:tag name="KSO_WM_DIAGRAM_COLOR_TEXT_CAN_REMOVE" val="n"/>
  <p:tag name="KSO_WM_DIAGRAM_MAX_ITEMCNT" val="3"/>
  <p:tag name="KSO_WM_DIAGRAM_MIN_ITEMCNT" val="2"/>
  <p:tag name="KSO_WM_DIAGRAM_VIRTUALLY_FRAME" val="{&quot;height&quot;:375.5104028463164,&quot;left&quot;:54.80007874015746,&quot;top&quot;:110.41369621463704,&quot;width&quot;:850.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.25,&quot;colorType&quot;:1,&quot;foreColorIndex&quot;:13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13"/>
  <p:tag name="KSO_WM_UNIT_USESOURCEFORMAT_APPLY" val="1"/>
</p:tagLst>
</file>

<file path=ppt/tags/tag18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799_2*l_h_f*1_3_1"/>
  <p:tag name="KSO_WM_TEMPLATE_CATEGORY" val="diagram"/>
  <p:tag name="KSO_WM_TEMPLATE_INDEX" val="20231799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3"/>
  <p:tag name="KSO_WM_DIAGRAM_COLOR_TEXT_CAN_REMOVE" val="n"/>
  <p:tag name="KSO_WM_DIAGRAM_GROUP_CODE" val="l1-1"/>
  <p:tag name="KSO_WM_DIAGRAM_MAX_ITEMCNT" val="3"/>
  <p:tag name="KSO_WM_DIAGRAM_MIN_ITEMCNT" val="2"/>
  <p:tag name="KSO_WM_DIAGRAM_VIRTUALLY_FRAME" val="{&quot;height&quot;:375.5104028463164,&quot;left&quot;:54.80007874015746,&quot;top&quot;:110.41369621463704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333333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"/>
  <p:tag name="KSO_WM_UNIT_USESOURCEFORMAT_APPLY" val="1"/>
</p:tagLst>
</file>

<file path=ppt/tags/tag1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799_2*l_h_a*1_3_1"/>
  <p:tag name="KSO_WM_TEMPLATE_CATEGORY" val="diagram"/>
  <p:tag name="KSO_WM_TEMPLATE_INDEX" val="2023179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3"/>
  <p:tag name="KSO_WM_DIAGRAM_COLOR_TEXT_CAN_REMOVE" val="n"/>
  <p:tag name="KSO_WM_DIAGRAM_GROUP_CODE" val="l1-1"/>
  <p:tag name="KSO_WM_DIAGRAM_MAX_ITEMCNT" val="3"/>
  <p:tag name="KSO_WM_DIAGRAM_MIN_ITEMCNT" val="2"/>
  <p:tag name="KSO_WM_DIAGRAM_VIRTUALLY_FRAME" val="{&quot;height&quot;:375.5104028463164,&quot;left&quot;:54.80007874015746,&quot;top&quot;:110.41369621463704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项标题"/>
  <p:tag name="KSO_WM_UNIT_USESOURCEFORMAT_APPLY" val="1"/>
</p:tagLst>
</file>

<file path=ppt/tags/tag186.xml><?xml version="1.0" encoding="utf-8"?>
<p:tagLst xmlns:p="http://schemas.openxmlformats.org/presentationml/2006/main">
  <p:tag name="KSO_WM_SLIDE_ID" val="diagram20231799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1799"/>
  <p:tag name="KSO_WM_SLIDE_LAYOUT" val="a_l"/>
  <p:tag name="KSO_WM_SLIDE_LAYOUT_CNT" val="1_1"/>
  <p:tag name="KSO_WM_SLIDE_TYPE" val="text"/>
  <p:tag name="KSO_WM_SLIDE_SUBTYPE" val="diag"/>
  <p:tag name="KSO_WM_SLIDE_SIZE" val="850.4*374.662"/>
  <p:tag name="KSO_WM_SLIDE_POSITION" val="54.8001*110.838"/>
  <p:tag name="KSO_WM_SPECIAL_SOURCE" val="bdnull"/>
</p:tagLst>
</file>

<file path=ppt/tags/tag1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870_2*a*1"/>
  <p:tag name="KSO_WM_TEMPLATE_CATEGORY" val="diagram"/>
  <p:tag name="KSO_WM_TEMPLATE_INDEX" val="20231870"/>
  <p:tag name="KSO_WM_UNIT_LAYERLEVEL" val="1"/>
  <p:tag name="KSO_WM_TAG_VERSION" val="3.0"/>
  <p:tag name="KSO_WM_BEAUTIFY_FLAG" val="#wm#"/>
  <p:tag name="KSO_WM_UNIT_TEXT_TYPE" val="1"/>
  <p:tag name="KSO_WM_DIAGRAM_GROUP_CODE" val="l1-1"/>
  <p:tag name="KSO_WM_UNIT_PRESET_TEXT" val="单击此处添加页面标题"/>
  <p:tag name="KSO_WM_UNIT_TEXT_FILL_FORE_SCHEMECOLOR_INDEX" val="5"/>
  <p:tag name="KSO_WM_UNIT_TEXT_FILL_TYPE" val="1"/>
  <p:tag name="KSO_WM_UNIT_USESOURCEFORMAT_APPLY" val="1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870_1*l_h_i*1_1_1"/>
  <p:tag name="KSO_WM_TEMPLATE_CATEGORY" val="diagram"/>
  <p:tag name="KSO_WM_TEMPLATE_INDEX" val="2023187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.6"/>
  <p:tag name="KSO_WM_DIAGRAM_MAX_ITEMCNT" val="4"/>
  <p:tag name="KSO_WM_DIAGRAM_MIN_ITEMCNT" val="2"/>
  <p:tag name="KSO_WM_DIAGRAM_VIRTUALLY_FRAME" val="{&quot;height&quot;:383.5056034201727,&quot;left&quot;:48,&quot;top&quot;:118.22219828991365,&quot;width&quot;:864}"/>
  <p:tag name="KSO_WM_DIAGRAM_COLOR_MATCH_VALUE" val="{&quot;shape&quot;:{&quot;fill&quot;:{&quot;solid&quot;:{&quot;brightness&quot;:0.6000000238418579,&quot;colorType&quot;:1,&quot;foreColorIndex&quot;:5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189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870_1*l_h_f*1_1_1"/>
  <p:tag name="KSO_WM_TEMPLATE_CATEGORY" val="diagram"/>
  <p:tag name="KSO_WM_TEMPLATE_INDEX" val="2023187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，简明扼要地阐述观点。根据需要可酌情增减文字，以便观者准确地理解您传达的思想。单击添加文本具体内容，简明扼要地阐述您的内容观点。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383.5056034201727,&quot;left&quot;:48,&quot;top&quot;:118.22219828991365,&quot;width&quot;:8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9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870_1*l_h_a*1_1_1"/>
  <p:tag name="KSO_WM_TEMPLATE_CATEGORY" val="diagram"/>
  <p:tag name="KSO_WM_TEMPLATE_INDEX" val="2023187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标题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383.5056034201727,&quot;left&quot;:48,&quot;top&quot;:118.22219828991365,&quot;width&quot;:8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870_1*l_h_i*1_2_1"/>
  <p:tag name="KSO_WM_TEMPLATE_CATEGORY" val="diagram"/>
  <p:tag name="KSO_WM_TEMPLATE_INDEX" val="2023187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4"/>
  <p:tag name="KSO_WM_DIAGRAM_MIN_ITEMCNT" val="2"/>
  <p:tag name="KSO_WM_DIAGRAM_VIRTUALLY_FRAME" val="{&quot;height&quot;:383.5056034201727,&quot;left&quot;:48,&quot;top&quot;:118.22219828991365,&quot;width&quot;:86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192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870_1*l_h_f*1_2_1"/>
  <p:tag name="KSO_WM_TEMPLATE_CATEGORY" val="diagram"/>
  <p:tag name="KSO_WM_TEMPLATE_INDEX" val="2023187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，简明扼要地阐述您的观点。根据需要可酌情增减文字，以便观者准确地理解您传达的思想。单击此处添加文本具体内容，简明扼要地阐述您的内容观点。"/>
  <p:tag name="KSO_WM_UNIT_TEXT_TYPE" val="1"/>
  <p:tag name="KSO_WM_DIAGRAM_MAX_ITEMCNT" val="4"/>
  <p:tag name="KSO_WM_DIAGRAM_MIN_ITEMCNT" val="2"/>
  <p:tag name="KSO_WM_DIAGRAM_VIRTUALLY_FRAME" val="{&quot;height&quot;:383.5056034201727,&quot;left&quot;:48,&quot;top&quot;:118.22219828991365,&quot;width&quot;:8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9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870_1*l_h_a*1_2_1"/>
  <p:tag name="KSO_WM_TEMPLATE_CATEGORY" val="diagram"/>
  <p:tag name="KSO_WM_TEMPLATE_INDEX" val="2023187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标题"/>
  <p:tag name="KSO_WM_UNIT_TEXT_TYPE" val="1"/>
  <p:tag name="KSO_WM_DIAGRAM_MAX_ITEMCNT" val="4"/>
  <p:tag name="KSO_WM_DIAGRAM_MIN_ITEMCNT" val="2"/>
  <p:tag name="KSO_WM_DIAGRAM_VIRTUALLY_FRAME" val="{&quot;height&quot;:383.5056034201727,&quot;left&quot;:48,&quot;top&quot;:118.22219828991365,&quot;width&quot;:8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94.xml><?xml version="1.0" encoding="utf-8"?>
<p:tagLst xmlns:p="http://schemas.openxmlformats.org/presentationml/2006/main">
  <p:tag name="KSO_WM_SLIDE_ID" val="diagram20231870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diagram"/>
  <p:tag name="KSO_WM_TEMPLATE_INDEX" val="20231870"/>
  <p:tag name="KSO_WM_SLIDE_TYPE" val="text"/>
  <p:tag name="KSO_WM_SLIDE_SUBTYPE" val="diag"/>
  <p:tag name="KSO_WM_SLIDE_SIZE" val="863.95*383.55"/>
  <p:tag name="KSO_WM_SLIDE_POSITION" val="48*118.2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95.xml><?xml version="1.0" encoding="utf-8"?>
<p:tagLst xmlns:p="http://schemas.openxmlformats.org/presentationml/2006/main">
  <p:tag name="KSO_WM_UNIT_SUBTYPE" val="a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299_9*f*1"/>
  <p:tag name="KSO_WM_TEMPLATE_CATEGORY" val="custom"/>
  <p:tag name="KSO_WM_TEMPLATE_INDEX" val="20233299"/>
  <p:tag name="KSO_WM_UNIT_LAYERLEVEL" val="1"/>
  <p:tag name="KSO_WM_TAG_VERSION" val="3.0"/>
  <p:tag name="KSO_WM_BEAUTIFY_FLAG" val="#wm#"/>
</p:tagLst>
</file>

<file path=ppt/tags/tag19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30_11*a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CONTENT_GROUP_TYPE" val="contentchip"/>
</p:tagLst>
</file>

<file path=ppt/tags/tag197.xml><?xml version="1.0" encoding="utf-8"?>
<p:tagLst xmlns:p="http://schemas.openxmlformats.org/presentationml/2006/main">
  <p:tag name="KSO_WM_SLIDE_ID" val="custom20230230_11"/>
  <p:tag name="KSO_WM_TEMPLATE_SUBCATEGORY" val="29"/>
  <p:tag name="KSO_WM_TEMPLATE_MASTER_TYPE" val="0"/>
  <p:tag name="KSO_WM_TEMPLATE_COLOR_TYPE" val="0"/>
  <p:tag name="KSO_WM_SLIDE_ITEM_CNT" val="0"/>
  <p:tag name="KSO_WM_SLIDE_INDEX" val="11"/>
  <p:tag name="KSO_WM_TAG_VERSION" val="3.0"/>
  <p:tag name="KSO_WM_BEAUTIFY_FLAG" val="#wm#"/>
  <p:tag name="KSO_WM_TEMPLATE_CATEGORY" val="custom"/>
  <p:tag name="KSO_WM_TEMPLATE_INDEX" val="20230230"/>
  <p:tag name="KSO_WM_SLIDE_LAYOUT" val="a_f"/>
  <p:tag name="KSO_WM_SLIDE_LAYOUT_CNT" val="1_1"/>
  <p:tag name="KSO_WM_SLIDE_TYPE" val="endPage"/>
  <p:tag name="KSO_WM_SLIDE_SUBTYPE" val="pureTxt"/>
  <p:tag name="KSO_WM_SLIDE_CONTENT_AREA" val="{&quot;left&quot;:&quot;38.85&quot;,&quot;top&quot;:&quot;72.8&quot;,&quot;width&quot;:&quot;672.5&quot;,&quot;height&quot;:&quot;369.75&quot;}"/>
</p:tagLst>
</file>

<file path=ppt/theme/theme1.xml><?xml version="1.0" encoding="utf-8"?>
<a:theme xmlns:a="http://schemas.openxmlformats.org/drawingml/2006/main" name="1_Office 主题">
  <a:themeElements>
    <a:clrScheme name="自定义 61">
      <a:dk1>
        <a:srgbClr val="000000"/>
      </a:dk1>
      <a:lt1>
        <a:srgbClr val="FFFFFF"/>
      </a:lt1>
      <a:dk2>
        <a:srgbClr val="3F4D63"/>
      </a:dk2>
      <a:lt2>
        <a:srgbClr val="E7F0FD"/>
      </a:lt2>
      <a:accent1>
        <a:srgbClr val="116CEE"/>
      </a:accent1>
      <a:accent2>
        <a:srgbClr val="1B7ED6"/>
      </a:accent2>
      <a:accent3>
        <a:srgbClr val="268FBE"/>
      </a:accent3>
      <a:accent4>
        <a:srgbClr val="30A1A6"/>
      </a:accent4>
      <a:accent5>
        <a:srgbClr val="3BB28E"/>
      </a:accent5>
      <a:accent6>
        <a:srgbClr val="45C476"/>
      </a:accent6>
      <a:hlink>
        <a:srgbClr val="0563C1"/>
      </a:hlink>
      <a:folHlink>
        <a:srgbClr val="954F72"/>
      </a:folHlink>
    </a:clrScheme>
    <a:fontScheme name="自定义 13">
      <a:majorFont>
        <a:latin typeface="MiSans Heavy"/>
        <a:ea typeface="MiSans Heavy"/>
        <a:cs typeface=""/>
      </a:majorFont>
      <a:minorFont>
        <a:latin typeface="MiSans Light"/>
        <a:ea typeface="MiSans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  <a:prstDash val="solid"/>
        </a:ln>
        <a:effectLst>
          <a:outerShdw blurRad="203200" dist="101600" dir="8100000" algn="tr" rotWithShape="0">
            <a:srgbClr val="FF5DA9">
              <a:alpha val="10000"/>
            </a:srgb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2937</Words>
  <Application>WPS 演示</Application>
  <PresentationFormat>宽屏</PresentationFormat>
  <Paragraphs>158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MiSans Heavy</vt:lpstr>
      <vt:lpstr>Wingdings</vt:lpstr>
      <vt:lpstr>MiSans Light</vt:lpstr>
      <vt:lpstr>微软雅黑</vt:lpstr>
      <vt:lpstr>Arial Unicode MS</vt:lpstr>
      <vt:lpstr>Calibri</vt:lpstr>
      <vt:lpstr>1_Office 主题</vt:lpstr>
      <vt:lpstr>基于深度学习的文本作业自动评分系统（安卓版）</vt:lpstr>
      <vt:lpstr>目录</vt:lpstr>
      <vt:lpstr>项目背景与意义</vt:lpstr>
      <vt:lpstr>核心技术与研究现状</vt:lpstr>
      <vt:lpstr>核心技术与研究现状</vt:lpstr>
      <vt:lpstr>已完成工作与成果</vt:lpstr>
      <vt:lpstr>项目难点与重点</vt:lpstr>
      <vt:lpstr>整体方案与任务分解（WBS）</vt:lpstr>
      <vt:lpstr>改进目标与未来规划</vt:lpstr>
      <vt:lpstr>预期成果与创新点</vt:lpstr>
      <vt:lpstr>感谢聆听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 Arthur</dc:creator>
  <cp:lastModifiedBy>喵～迪、</cp:lastModifiedBy>
  <cp:revision>24</cp:revision>
  <dcterms:created xsi:type="dcterms:W3CDTF">2023-08-09T12:44:00Z</dcterms:created>
  <dcterms:modified xsi:type="dcterms:W3CDTF">2025-10-29T13:18:04Z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4726E27482A547E59C0BB05A3D9CEDA2_12</vt:lpwstr>
  </property>
</Properties>
</file>