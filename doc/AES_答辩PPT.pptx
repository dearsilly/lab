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36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基于深度学习的文本作业自动评分系统</a:t>
            </a:r>
          </a:p>
          <a:p>
            <a:pPr algn="ctr">
              <a:defRPr sz="2400">
                <a:solidFill>
                  <a:srgbClr val="D1D5DB"/>
                </a:solidFill>
              </a:defRPr>
            </a:pPr>
            <a:r>
              <a:t>Automated Essay Scoring with BERT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1800">
                <a:solidFill>
                  <a:srgbClr val="FFFFFF"/>
                </a:solidFill>
              </a:defRPr>
            </a:pPr>
            <a:r>
              <a:t>中英文双语 · 多维度评分 · 智能反馈 · 批量处理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工程实践项目 | 苏州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项目背景与目标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AES 自动文本评分系统 | 工程实践项目答辩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📌 项目背景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传统作文评分依赖人工，效率低、一致性差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深度学习技术在 NLP 领域取得突破性进展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预训练模型（BERT）为自动评分提供了技术基础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🎯 项目目标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构建支持中英文双语的自动作文评分系统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提供多维度评分（总评分 + 内容/结构/语言）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生成可读的文字评语反馈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通过 Web 界面实现便捷交互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1463040"/>
            <a:ext cx="45720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🎯 成功标准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✅ 英文 ASAP 数据集 QWK ≥ 0.70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✅ 中文模型 QWK ≥ 0.70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✅ API 单篇评分响应 &lt; 5 秒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✅ 中英文双语界面完整切换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✅ 批量评分 CSV 支持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✅ E2E 测试 41 项全部通过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系统架构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AES 自动文本评分系统 | 工程实践项目答辩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94183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800" b="1">
                <a:solidFill>
                  <a:srgbClr val="6366F1"/>
                </a:solidFill>
              </a:defRPr>
            </a:pPr>
            <a:r>
              <a:t>Streamlit UI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评分页面 | 批量页面 | 中英对比 | 双语切换 | 仪表盘+雷达图+反馈卡片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697480"/>
            <a:ext cx="94183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800" b="1">
                <a:solidFill>
                  <a:srgbClr val="3B82F6"/>
                </a:solidFill>
              </a:defRPr>
            </a:pPr>
            <a:r>
              <a:t>Flask REST API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POST /score | POST /batch | GET /health | GET /models | 参数校验+错误处理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931920"/>
            <a:ext cx="94183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推理引擎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语言检测 → 文本预处理 → 模型路由 → 推理 → 反馈生成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5166360"/>
            <a:ext cx="94183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模型层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BERT-base-uncased (英文) | BERT-base-chinese (中文) | jieba 中文分词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4688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3703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49377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6B7280"/>
                </a:solidFill>
              </a:defRPr>
            </a:pPr>
            <a:r>
              <a:t>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模型架构</a:t>
            </a:r>
          </a:p>
          <a:p>
            <a:pPr algn="l">
              <a:defRPr sz="1600">
                <a:solidFill>
                  <a:srgbClr val="D1D5DB"/>
                </a:solidFill>
              </a:defRPr>
            </a:pPr>
            <a:r>
              <a:t>BERT + 回归头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AES 自动文本评分系统 | 工程实践项目答辩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🧠 英文模型：BERT-base-uncased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12 层 Transformer，110M 参数，768 维隐藏层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输入：英文文本 → BERT Tokenizer → [CLS] 向量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输出：Dropout(0.1) → Linear → Sigmoid → [0,1]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训练：ASAP 12,976 篇，fp16，5 epoch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🇨🇳 中文模型：BERT-base-chinese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同架构，21128 中文词表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预处理：全半角转换 → jieba 分词 → BERT Tokenizer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训练：翻译数据 3,950 篇，5 epoch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1371600"/>
            <a:ext cx="45720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6366F1"/>
                </a:solidFill>
              </a:defRPr>
            </a:pPr>
            <a:r>
              <a:t>📊 模型表现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英文 BERT: Val QWK 0.58 (prompt隔离)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中文 BERT: Val QWK 0.79, Test 0.76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RoBERTa-base 备选模型已训练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3931920"/>
            <a:ext cx="45720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🔮 多任务扩展（已设计）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共享编码器 + 4 个独立回归头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Head 0: 总评分 | Head 1: 内容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Head 2: 结构 | Head 3: 语言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当前版本：启发式拆分近似实现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数据处理流水线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AES 自动文本评分系统 | 工程实践项目答辩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0292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6366F1"/>
                </a:solidFill>
              </a:defRPr>
            </a:pPr>
            <a:r>
              <a:t>🇬🇧 英文数据处理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① ASAP 原始 CSV (12,976 篇)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② 文本清洗: HTML unescape / URL移除 / 空白规范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③ 按 essay_set 归一化分数 (min-max → [0,1])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④ BERT 分词 (max_length=512)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⑤ Prompt 隔离划分 (train/val/test)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⑥ 5 折 GroupKFold 交叉验证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1371600"/>
            <a:ext cx="50292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🇨🇳 中文数据处理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① ASAP 英文 → Google Translate (3,950 篇)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② 中文清洗: 全角转半角 / 控制字符移除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③ jieba 分词 (词间加空格，适配 BERT)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④ 按 essay_set 归一化分数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⑤ BERT 分词 (bert-base-chinese)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⑥ 随机划分 (翻译数据同源，无需 prompt 隔离)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REST API 接口设计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AES 自动文本评分系统 | 工程实践项目答辩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9728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3716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/api/v1/health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28016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健康检查 + 模型加载状态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9728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6517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/api/v1/models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56032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模型注册表信息 (名称/语言/版本)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9728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9319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/api/v1/score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84048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单篇评分</a:t>
            </a:r>
            <a:br/>
            <a:r>
              <a:t>{"text": "...", "language": "auto"}</a:t>
            </a:r>
            <a:br/>
            <a:r>
              <a:t>→ {score, scores{total/content/structure/language}, feedback{...}}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212079"/>
            <a:ext cx="109728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212079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/api/v1/batch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12064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批量评分 (CSV上传)</a:t>
            </a:r>
            <a:br/>
            <a:r>
              <a:t>→ {total, results[{id, score, ...}]}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Web 交互界面</a:t>
            </a:r>
          </a:p>
          <a:p>
            <a:pPr algn="l">
              <a:defRPr sz="1600">
                <a:solidFill>
                  <a:srgbClr val="D1D5DB"/>
                </a:solidFill>
              </a:defRPr>
            </a:pPr>
            <a:r>
              <a:t>Streamlit + Plotly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AES 自动文本评分系统 | 工程实践项目答辩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3383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6366F1"/>
                </a:solidFill>
              </a:defRPr>
            </a:pPr>
            <a:r>
              <a:t>📝 评分页面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中英文自动检测/手动切换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圆形仪表盘 (总分%)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三维度雷达图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彩色反馈卡片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字数/字符数实时统计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清除按钮 (无状态冲突)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383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3B82F6"/>
                </a:solidFill>
              </a:defRPr>
            </a:pPr>
            <a:r>
              <a:t>📊 批量评分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CSV 模板下载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文件拖拽上传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批量推理 + 结果表格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一键下载 CSV 结果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进度实时反馈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71600"/>
            <a:ext cx="3383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🔄 中英对比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并排双模型评分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同一文本两种视角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分数对比 + 反馈对比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侧边栏双语切换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🎨 界面特性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完整中英双语文案 (i18n/zh.json + en.json)  •  侧边栏语言实时切换  •  Plotly 雷达图 + 仪表盘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加载状态 (spinner) + 空状态 (placeholder) + 错误状态 (toast)  •  响应式布局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智能反馈生成</a:t>
            </a:r>
          </a:p>
          <a:p>
            <a:pPr algn="l">
              <a:defRPr sz="1600">
                <a:solidFill>
                  <a:srgbClr val="D1D5DB"/>
                </a:solidFill>
              </a:defRPr>
            </a:pPr>
            <a:r>
              <a:t>基于维度分数的模板化评语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AES 自动文本评分系统 | 工程实践项目答辩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📋 反馈生成流程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维度分数 → 等级判断 → 模板映射 → 评语文字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等级阈值:  ≥0.7 → 优秀 | ≥0.4 → 中等 | &lt;0.4 → 待提升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模板规模: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英文: 3维度 × 3等级 = 9条维度模板 + 3条总评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中文: 同上，完整中文翻译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总计 24 条模板覆盖全部评分区间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1371600"/>
            <a:ext cx="45720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🇨🇳 中文反馈示例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内容: "论点明确，论证充分，举例恰当。"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结构: "结构完整，层次分明，段落衔接自然。"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语言: "语言表达流畅，词汇丰富，句式多样。"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总评: "总分表现优秀(85.2分)..."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3931920"/>
            <a:ext cx="45720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6366F1"/>
                </a:solidFill>
              </a:defRPr>
            </a:pPr>
            <a:r>
              <a:t>🇬🇧 English Feedback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Content: "Your arguments are clear..."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Structure: "Excellent essay structure..."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Language: "Strong command of language..."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Overall: "Overall score is strong..."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测试与质量保证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AES 自动文本评分系统 | 工程实践项目答辩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029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6366F1"/>
                </a:solidFill>
              </a:defRPr>
            </a:pPr>
            <a:r>
              <a:t>🧪 单元测试 (17项)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数据预处理: 文本清洗、分数归一化、Prompt划分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API 端点: Health、Score (错误路径)、404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评估指标: QWK、MAE、Pearson 正确性验证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工具: pytest (17/17 通过, 3.99s)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029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🌐 E2E 测试 (41项)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API: Health/Score(ZH/EN)/Batch/Models/Errors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UI: 首页/空提交/清除/评分流程/批量页/对比页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范文: 中英文高分范文评分验证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工具: Playwright + Chromium (41/41 通过)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931920"/>
            <a:ext cx="106984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📊 测试覆盖矩阵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层级        工具        测试数    状态    覆盖范围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单元测试    pytest       17       ✅    数据流水线 + API端点 + 评估指标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E2E测试    Playwright   41       ✅    API全端点 + UI全页面 + 范文验证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模型测试    (手动)        —       —     前向传播、输出形状、值域、NaN保护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演示场景</a:t>
            </a:r>
          </a:p>
          <a:p>
            <a:pPr algn="l">
              <a:defRPr sz="1600">
                <a:solidFill>
                  <a:srgbClr val="D1D5DB"/>
                </a:solidFill>
              </a:defRPr>
            </a:pPr>
            <a:r>
              <a:t>6个核心场景 · 约 8 分钟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AES 自动文本评分系统 | 工程实践项目答辩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800" b="1">
                <a:solidFill>
                  <a:srgbClr val="6366F1"/>
                </a:solidFill>
              </a:defRPr>
            </a:pPr>
            <a:r>
              <a:t>场景 1: 英文作文评分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仪表盘 + 雷达图 + 英文反馈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240280"/>
            <a:ext cx="941832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场景 2: 中文作文评分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自动检测 + 中文反馈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108960"/>
            <a:ext cx="941832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800" b="1">
                <a:solidFill>
                  <a:srgbClr val="3B82F6"/>
                </a:solidFill>
              </a:defRPr>
            </a:pPr>
            <a:r>
              <a:t>场景 3: 批量评分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CSV 上传 → 结果表格 → 下载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977639"/>
            <a:ext cx="941832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场景 4: 中英对比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同一文本双模型并排展示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846320"/>
            <a:ext cx="941832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800" b="1">
                <a:solidFill>
                  <a:srgbClr val="EF4444"/>
                </a:solidFill>
              </a:defRPr>
            </a:pPr>
            <a:r>
              <a:t>场景 5: 错误处理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空文本 / 超长 / 清除按钮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5715000"/>
            <a:ext cx="941832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场景 6: 工程总结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架构 + 指标 + 创新点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关键技术决策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AES 自动文本评分系统 | 工程实践项目答辩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700" b="1">
                <a:solidFill>
                  <a:srgbClr val="1F2937"/>
                </a:solidFill>
              </a:defRPr>
            </a:pPr>
            <a:r>
              <a:t>▸ BERT-base 为主模型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8GB 显存稳定运行，生态成熟，训练推理效率高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240280"/>
            <a:ext cx="9418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700" b="1">
                <a:solidFill>
                  <a:srgbClr val="1F2937"/>
                </a:solidFill>
              </a:defRPr>
            </a:pPr>
            <a:r>
              <a:t>▸ Prompt 隔离划分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防止题目级别数据泄露，评估更真实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108960"/>
            <a:ext cx="9418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700" b="1">
                <a:solidFill>
                  <a:srgbClr val="1F2937"/>
                </a:solidFill>
              </a:defRPr>
            </a:pPr>
            <a:r>
              <a:t>▸ 翻译数据 + 中文模型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快速启动中文能力，绕过数据获取瓶颈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977639"/>
            <a:ext cx="9418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700" b="1">
                <a:solidFill>
                  <a:srgbClr val="1F2937"/>
                </a:solidFill>
              </a:defRPr>
            </a:pPr>
            <a:r>
              <a:t>▸ Flask + Streamlit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Python 全栈，团队技能匹配，快速迭代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846320"/>
            <a:ext cx="9418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700" b="1">
                <a:solidFill>
                  <a:srgbClr val="1F2937"/>
                </a:solidFill>
              </a:defRPr>
            </a:pPr>
            <a:r>
              <a:t>▸ 不引入数据库/认证/Docker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控制工程实践复杂度边界，聚焦核心价值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5715000"/>
            <a:ext cx="9418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91440"/>
          <a:lstStyle/>
          <a:p>
            <a:pPr algn="ctr">
              <a:defRPr sz="1700" b="1">
                <a:solidFill>
                  <a:srgbClr val="1F2937"/>
                </a:solidFill>
              </a:defRPr>
            </a:pPr>
            <a:r>
              <a:t>▸ MSE 损失 + Sigmoid 输出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训练稳定，回归任务经典方案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项目总结与展望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AES 自动文本评分系统 | 工程实践项目答辩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029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✅ 已完成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中英文双语评分系统 (BERT双模型)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多维度评分 + 智能反馈生成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RESTful API (4个端点)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Streamlit 多页面 Web 界面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批量评分 CSV 流水线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双语界面完整切换 (i18n)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41 项 E2E 测试 + 17 项单元测试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完整项目文档 + 答辩材料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029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🔮 后续改进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DeBERTa-v3 多任务模型 (提升 QWK)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收集真实中文作文数据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模型集成 (加权平均)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Longformer 长文本支持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教师/学生角色系统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数据库持久化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8463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6366F1"/>
                </a:solidFill>
              </a:defRPr>
            </a:pPr>
            <a:r>
              <a:t>💡 核心创新点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• 中英文双模型无缝切换  •  多维评分 + 反馈一体化  •  完整批量评分流水线  •  严格 prompt 隔离评估  •  42项自动化测试覆盖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36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感谢聆听</a:t>
            </a:r>
          </a:p>
          <a:p>
            <a:pPr algn="ctr">
              <a:defRPr sz="3200">
                <a:solidFill>
                  <a:srgbClr val="D1D5DB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1800">
                <a:solidFill>
                  <a:srgbClr val="FFFFFF"/>
                </a:solidFill>
              </a:defRPr>
            </a:pPr>
            <a:r>
              <a:t>自动文本评分系统 (AES)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基于 BERT 深度学习 · 中英文双语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苏州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