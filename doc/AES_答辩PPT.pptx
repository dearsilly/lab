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6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AES 自动作文评分系统</a:t>
            </a:r>
          </a:p>
          <a:p>
            <a:pPr algn="ctr">
              <a:defRPr sz="2800">
                <a:solidFill>
                  <a:srgbClr val="BBCAE8"/>
                </a:solidFill>
              </a:defRPr>
            </a:pPr>
            <a:r>
              <a:t>Automated Essay Scoring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基于深度学习的英文/中文作文智能评分</a:t>
            </a:r>
          </a:p>
          <a:p>
            <a:pPr algn="ctr">
              <a:defRPr sz="2200">
                <a:solidFill>
                  <a:srgbClr val="FFFFFF"/>
                </a:solidFill>
              </a:defRPr>
            </a:pPr>
          </a:p>
          <a:p>
            <a:pPr algn="ctr">
              <a:defRPr sz="2200">
                <a:solidFill>
                  <a:srgbClr val="FFFFFF"/>
                </a:solidFill>
              </a:defRPr>
            </a:pPr>
            <a:r>
              <a:t>工程实践项目  2026年6月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汇报大纲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374151"/>
                </a:solidFill>
              </a:defRPr>
            </a:pPr>
            <a:r>
              <a:t>1.  项目背景 —— 为什么要做自动作文评分？</a:t>
            </a:r>
          </a:p>
          <a:p>
            <a:pPr>
              <a:spcAft>
                <a:spcPts val="1000"/>
              </a:spcAft>
              <a:defRPr sz="2400">
                <a:solidFill>
                  <a:srgbClr val="374151"/>
                </a:solidFill>
              </a:defRPr>
            </a:pPr>
            <a:r>
              <a:t>2.  系统架构 —— Web版 + Android版 双端架构</a:t>
            </a:r>
          </a:p>
          <a:p>
            <a:pPr>
              <a:spcAft>
                <a:spcPts val="1000"/>
              </a:spcAft>
              <a:defRPr sz="2400">
                <a:solidFill>
                  <a:srgbClr val="374151"/>
                </a:solidFill>
              </a:defRPr>
            </a:pPr>
            <a:r>
              <a:t>3.  技术方案 —— BERT 模型设计、数据处理与训练策略</a:t>
            </a:r>
          </a:p>
          <a:p>
            <a:pPr>
              <a:spcAft>
                <a:spcPts val="1000"/>
              </a:spcAft>
              <a:defRPr sz="2400">
                <a:solidFill>
                  <a:srgbClr val="374151"/>
                </a:solidFill>
              </a:defRPr>
            </a:pPr>
            <a:r>
              <a:t>4.  实现细节 —— 推理引擎、API、UI、Android分词器</a:t>
            </a:r>
          </a:p>
          <a:p>
            <a:pPr>
              <a:spcAft>
                <a:spcPts val="1000"/>
              </a:spcAft>
              <a:defRPr sz="2400">
                <a:solidFill>
                  <a:srgbClr val="374151"/>
                </a:solidFill>
              </a:defRPr>
            </a:pPr>
            <a:r>
              <a:t>5.  测试结果 —— 模型表现、单元测试与E2E测试</a:t>
            </a:r>
          </a:p>
          <a:p>
            <a:pPr>
              <a:spcAft>
                <a:spcPts val="1000"/>
              </a:spcAft>
              <a:defRPr sz="2400">
                <a:solidFill>
                  <a:srgbClr val="374151"/>
                </a:solidFill>
              </a:defRPr>
            </a:pPr>
            <a:r>
              <a:t>6.  总结与展望 —— 成果、限制与改进方向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1. 项目背景与问题定义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74151"/>
                </a:solidFill>
              </a:defRPr>
            </a:pPr>
            <a:r>
              <a:t>• 作文评分是教师最耗时的工作：4个班 × 50篇 × 5分钟 = 16+小时</a:t>
            </a:r>
          </a:p>
          <a:p>
            <a:pPr>
              <a:spcAft>
                <a:spcPts val="1000"/>
              </a:spcAft>
              <a:defRPr sz="2200">
                <a:solidFill>
                  <a:srgbClr val="374151"/>
                </a:solidFill>
              </a:defRPr>
            </a:pPr>
            <a:r>
              <a:t>• 传统自动评分依赖手工特征（词汇、句长、语法），难以捕捉深层语义</a:t>
            </a:r>
          </a:p>
          <a:p>
            <a:pPr>
              <a:spcAft>
                <a:spcPts val="1000"/>
              </a:spcAft>
              <a:defRPr sz="2200">
                <a:solidFill>
                  <a:srgbClr val="374151"/>
                </a:solidFill>
              </a:defRPr>
            </a:pPr>
            <a:r>
              <a:t>• 现有深度学习方案大多仅支持英文，缺乏全平台覆盖</a:t>
            </a:r>
          </a:p>
          <a:p>
            <a:pPr>
              <a:spcAft>
                <a:spcPts val="1000"/>
              </a:spcAft>
              <a:defRPr sz="2200">
                <a:solidFill>
                  <a:srgbClr val="374151"/>
                </a:solidFill>
              </a:defRPr>
            </a:pPr>
          </a:p>
          <a:p>
            <a:pPr>
              <a:spcAft>
                <a:spcPts val="1000"/>
              </a:spcAft>
              <a:defRPr sz="2200">
                <a:solidFill>
                  <a:srgbClr val="374151"/>
                </a:solidFill>
              </a:defRPr>
            </a:pPr>
            <a:r>
              <a:t>项目目标：</a:t>
            </a:r>
          </a:p>
          <a:p>
            <a:pPr>
              <a:spcAft>
                <a:spcPts val="1000"/>
              </a:spcAft>
              <a:defRPr sz="2200">
                <a:solidFill>
                  <a:srgbClr val="374151"/>
                </a:solidFill>
              </a:defRPr>
            </a:pPr>
            <a:r>
              <a:t>• 构建中英文双语BERT作文自动评分系统</a:t>
            </a:r>
          </a:p>
          <a:p>
            <a:pPr>
              <a:spcAft>
                <a:spcPts val="1000"/>
              </a:spcAft>
              <a:defRPr sz="2200">
                <a:solidFill>
                  <a:srgbClr val="374151"/>
                </a:solidFill>
              </a:defRPr>
            </a:pPr>
            <a:r>
              <a:t>• 提供多维度评分（总分 + 内容/结构/语言）和文字评语反馈</a:t>
            </a:r>
          </a:p>
          <a:p>
            <a:pPr>
              <a:spcAft>
                <a:spcPts val="1000"/>
              </a:spcAft>
              <a:defRPr sz="2200">
                <a:solidFill>
                  <a:srgbClr val="374151"/>
                </a:solidFill>
              </a:defRPr>
            </a:pPr>
            <a:r>
              <a:t>• 实现 Web版 和 Android本地推理版 双版本完整前端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2. 系统架构 — 三层分层设计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374151"/>
                </a:solidFill>
              </a:defRPr>
            </a:pPr>
            <a:r>
              <a:t>数据层：ASAP 英文作文数据集（12,979篇）+ Google翻译中文版（3,950篇）</a:t>
            </a:r>
          </a:p>
          <a:p>
            <a:pPr>
              <a:spcAft>
                <a:spcPts val="1000"/>
              </a:spcAft>
              <a:defRPr sz="1900">
                <a:solidFill>
                  <a:srgbClr val="374151"/>
                </a:solidFill>
              </a:defRPr>
            </a:pPr>
            <a:r>
              <a:t>  ├─ 英文：HTML清理 → 归一化 → prompt隔离划分</a:t>
            </a:r>
          </a:p>
          <a:p>
            <a:pPr>
              <a:spcAft>
                <a:spcPts val="1000"/>
              </a:spcAft>
              <a:defRPr sz="1900">
                <a:solidFill>
                  <a:srgbClr val="374151"/>
                </a:solidFill>
              </a:defRPr>
            </a:pPr>
            <a:r>
              <a:t>  └─ 中文：全半角转换 → jieba分词 → 随机划分</a:t>
            </a:r>
          </a:p>
          <a:p>
            <a:pPr>
              <a:spcAft>
                <a:spcPts val="1000"/>
              </a:spcAft>
              <a:defRPr sz="1900">
                <a:solidFill>
                  <a:srgbClr val="374151"/>
                </a:solidFill>
              </a:defRPr>
            </a:pPr>
          </a:p>
          <a:p>
            <a:pPr>
              <a:spcAft>
                <a:spcPts val="1000"/>
              </a:spcAft>
              <a:defRPr sz="1900">
                <a:solidFill>
                  <a:srgbClr val="374151"/>
                </a:solidFill>
              </a:defRPr>
            </a:pPr>
            <a:r>
              <a:t>模型层：BERT-base-uncased（英文）+ BERT-base-chinese（中文）</a:t>
            </a:r>
          </a:p>
          <a:p>
            <a:pPr>
              <a:spcAft>
                <a:spcPts val="1000"/>
              </a:spcAft>
              <a:defRPr sz="1900">
                <a:solidFill>
                  <a:srgbClr val="374151"/>
                </a:solidFill>
              </a:defRPr>
            </a:pPr>
            <a:r>
              <a:t>  ├─ [CLS] → Dropout(0.1) → Linear(768→1) → Sigmoid → [0,1]</a:t>
            </a:r>
          </a:p>
          <a:p>
            <a:pPr>
              <a:spcAft>
                <a:spcPts val="1000"/>
              </a:spcAft>
              <a:defRPr sz="1900">
                <a:solidFill>
                  <a:srgbClr val="374151"/>
                </a:solidFill>
              </a:defRPr>
            </a:pPr>
            <a:r>
              <a:t>  └─ 预留多任务变体（4回归头：总分/内容/结构/语言）</a:t>
            </a:r>
          </a:p>
          <a:p>
            <a:pPr>
              <a:spcAft>
                <a:spcPts val="1000"/>
              </a:spcAft>
              <a:defRPr sz="1900">
                <a:solidFill>
                  <a:srgbClr val="374151"/>
                </a:solidFill>
              </a:defRPr>
            </a:pPr>
          </a:p>
          <a:p>
            <a:pPr>
              <a:spcAft>
                <a:spcPts val="1000"/>
              </a:spcAft>
              <a:defRPr sz="1900">
                <a:solidFill>
                  <a:srgbClr val="374151"/>
                </a:solidFill>
              </a:defRPr>
            </a:pPr>
            <a:r>
              <a:t>应用层：三端统一API设计，4个REST端点</a:t>
            </a:r>
          </a:p>
          <a:p>
            <a:pPr>
              <a:spcAft>
                <a:spcPts val="1000"/>
              </a:spcAft>
              <a:defRPr sz="1900">
                <a:solidFill>
                  <a:srgbClr val="374151"/>
                </a:solidFill>
              </a:defRPr>
            </a:pPr>
            <a:r>
              <a:t>  ├─ Flask REST API（后端服务）</a:t>
            </a:r>
          </a:p>
          <a:p>
            <a:pPr>
              <a:spcAft>
                <a:spcPts val="1000"/>
              </a:spcAft>
              <a:defRPr sz="1900">
                <a:solidFill>
                  <a:srgbClr val="374151"/>
                </a:solidFill>
              </a:defRPr>
            </a:pPr>
            <a:r>
              <a:t>  ├─ Streamlit Web UI（4页面：评分/批量/对比/设置）</a:t>
            </a:r>
          </a:p>
          <a:p>
            <a:pPr>
              <a:spcAft>
                <a:spcPts val="1000"/>
              </a:spcAft>
              <a:defRPr sz="1900">
                <a:solidFill>
                  <a:srgbClr val="374151"/>
                </a:solidFill>
              </a:defRPr>
            </a:pPr>
            <a:r>
              <a:t>  └─ Android App（PyTorch Mobile本地推理，4 Tab导航）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3. 模型架构 — BERT + 回归头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1A56DB"/>
                </a:solidFill>
              </a:defRPr>
            </a:pPr>
            <a:r>
              <a:t>输入文本</a:t>
            </a:r>
          </a:p>
          <a:p>
            <a:pPr>
              <a:spcAft>
                <a:spcPts val="400"/>
              </a:spcAft>
              <a:defRPr sz="1400">
                <a:solidFill>
                  <a:srgbClr val="374151"/>
                </a:solidFill>
              </a:defRPr>
            </a:pPr>
            <a:r>
              <a:t>      └─ English text / 中文文本</a:t>
            </a:r>
          </a:p>
          <a:p>
            <a:pPr>
              <a:spcAft>
                <a:spcPts val="400"/>
              </a:spcAft>
              <a:defRPr sz="1200">
                <a:solidFill>
                  <a:srgbClr val="10B981"/>
                </a:solidFill>
              </a:defRPr>
            </a:pPr>
            <a:r>
              <a:t>      ↓</a:t>
            </a:r>
          </a:p>
          <a:p>
            <a:pPr>
              <a:spcAft>
                <a:spcPts val="200"/>
              </a:spcAft>
              <a:defRPr sz="1600" b="1">
                <a:solidFill>
                  <a:srgbClr val="1A56DB"/>
                </a:solidFill>
              </a:defRPr>
            </a:pPr>
            <a:r>
              <a:t>BERT Tokenizer</a:t>
            </a:r>
          </a:p>
          <a:p>
            <a:pPr>
              <a:spcAft>
                <a:spcPts val="400"/>
              </a:spcAft>
              <a:defRPr sz="1400">
                <a:solidFill>
                  <a:srgbClr val="374151"/>
                </a:solidFill>
              </a:defRPr>
            </a:pPr>
            <a:r>
              <a:t>      └─ WordPiece (30522 EN / 21128 ZH vocab)</a:t>
            </a:r>
          </a:p>
          <a:p>
            <a:pPr>
              <a:spcAft>
                <a:spcPts val="400"/>
              </a:spcAft>
              <a:defRPr sz="1200">
                <a:solidFill>
                  <a:srgbClr val="10B981"/>
                </a:solidFill>
              </a:defRPr>
            </a:pPr>
            <a:r>
              <a:t>      ↓</a:t>
            </a:r>
          </a:p>
          <a:p>
            <a:pPr>
              <a:spcAft>
                <a:spcPts val="200"/>
              </a:spcAft>
              <a:defRPr sz="1600" b="1">
                <a:solidFill>
                  <a:srgbClr val="1A56DB"/>
                </a:solidFill>
              </a:defRPr>
            </a:pPr>
            <a:r>
              <a:t>BERT Encoder</a:t>
            </a:r>
          </a:p>
          <a:p>
            <a:pPr>
              <a:spcAft>
                <a:spcPts val="400"/>
              </a:spcAft>
              <a:defRPr sz="1400">
                <a:solidFill>
                  <a:srgbClr val="374151"/>
                </a:solidFill>
              </a:defRPr>
            </a:pPr>
            <a:r>
              <a:t>      └─ 12层 Transformer, 768-d hidden, 110M params</a:t>
            </a:r>
          </a:p>
          <a:p>
            <a:pPr>
              <a:spcAft>
                <a:spcPts val="400"/>
              </a:spcAft>
              <a:defRPr sz="1200">
                <a:solidFill>
                  <a:srgbClr val="10B981"/>
                </a:solidFill>
              </a:defRPr>
            </a:pPr>
            <a:r>
              <a:t>      ↓</a:t>
            </a:r>
          </a:p>
          <a:p>
            <a:pPr>
              <a:spcAft>
                <a:spcPts val="200"/>
              </a:spcAft>
              <a:defRPr sz="1600" b="1">
                <a:solidFill>
                  <a:srgbClr val="1A56DB"/>
                </a:solidFill>
              </a:defRPr>
            </a:pPr>
            <a:r>
              <a:t>[CLS] Pooling</a:t>
            </a:r>
          </a:p>
          <a:p>
            <a:pPr>
              <a:spcAft>
                <a:spcPts val="400"/>
              </a:spcAft>
              <a:defRPr sz="1400">
                <a:solidFill>
                  <a:srgbClr val="374151"/>
                </a:solidFill>
              </a:defRPr>
            </a:pPr>
            <a:r>
              <a:t>      └─ 取第一个 token 的输出向量 (768-d)</a:t>
            </a:r>
          </a:p>
          <a:p>
            <a:pPr>
              <a:spcAft>
                <a:spcPts val="400"/>
              </a:spcAft>
              <a:defRPr sz="1200">
                <a:solidFill>
                  <a:srgbClr val="10B981"/>
                </a:solidFill>
              </a:defRPr>
            </a:pPr>
            <a:r>
              <a:t>      ↓</a:t>
            </a:r>
          </a:p>
          <a:p>
            <a:pPr>
              <a:spcAft>
                <a:spcPts val="200"/>
              </a:spcAft>
              <a:defRPr sz="1600" b="1">
                <a:solidFill>
                  <a:srgbClr val="1A56DB"/>
                </a:solidFill>
              </a:defRPr>
            </a:pPr>
            <a:r>
              <a:t>Dropout (0.1)</a:t>
            </a:r>
          </a:p>
          <a:p>
            <a:pPr>
              <a:spcAft>
                <a:spcPts val="400"/>
              </a:spcAft>
              <a:defRPr sz="1200">
                <a:solidFill>
                  <a:srgbClr val="10B981"/>
                </a:solidFill>
              </a:defRPr>
            </a:pPr>
            <a:r>
              <a:t>      ↓</a:t>
            </a:r>
          </a:p>
          <a:p>
            <a:pPr>
              <a:spcAft>
                <a:spcPts val="200"/>
              </a:spcAft>
              <a:defRPr sz="1600" b="1">
                <a:solidFill>
                  <a:srgbClr val="1A56DB"/>
                </a:solidFill>
              </a:defRPr>
            </a:pPr>
            <a:r>
              <a:t>Linear (768 → 1)</a:t>
            </a:r>
          </a:p>
          <a:p>
            <a:pPr>
              <a:spcAft>
                <a:spcPts val="400"/>
              </a:spcAft>
              <a:defRPr sz="1200">
                <a:solidFill>
                  <a:srgbClr val="10B981"/>
                </a:solidFill>
              </a:defRPr>
            </a:pPr>
            <a:r>
              <a:t>      ↓</a:t>
            </a:r>
          </a:p>
          <a:p>
            <a:pPr>
              <a:spcAft>
                <a:spcPts val="200"/>
              </a:spcAft>
              <a:defRPr sz="1600" b="1">
                <a:solidFill>
                  <a:srgbClr val="1A56DB"/>
                </a:solidFill>
              </a:defRPr>
            </a:pPr>
            <a:r>
              <a:t>Sigmoid</a:t>
            </a:r>
          </a:p>
          <a:p>
            <a:pPr>
              <a:spcAft>
                <a:spcPts val="400"/>
              </a:spcAft>
              <a:defRPr sz="1400">
                <a:solidFill>
                  <a:srgbClr val="374151"/>
                </a:solidFill>
              </a:defRPr>
            </a:pPr>
            <a:r>
              <a:t>      └─ 输出分数 ∈ [0, 1]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3. 数据处理与训练策略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参数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英文模型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中文模型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基础模型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bert-base-uncased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bert-base-chinese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训练数据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ASAP 12,979篇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翻译数据 3,950篇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学习率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2e-5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2e-5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Epochs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5（早停 patience=3）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5（早停 patience=3）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精度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fp16 混合精度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fp32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优化器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AdamW (wd=0.01)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AdamW (wd=0.01)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划分策略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Essay-set 级别隔离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随机划分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4. 实现细节 — Web版与Android版对比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Web 版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Android 版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推理位置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Flask 服务器 (GPU fp16)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手机本地 (CPU)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模型加载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Python PyTorch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PyTorch Mobile Lite 1.13.1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分词器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HuggingFace Transformers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Kotlin 自实现 WordPiece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语言检测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langdetect + 字符规则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字符规则（零依赖）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UI 框架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Streamlit + Plotly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Jetpack Compose + Canvas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需要 HTTP 连接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完全离线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推理速度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~200ms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~1-5s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4. Android App 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UI层 (Jetpack Compose + Material3)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  ┌──────┐  ┌──────┐  ┌──────┐  ┌──────┐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  │ 评分  │  │ 批量  │  │ 对比  │  │ 设置  │  底部4 Tab NavigationBar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  └──────┘  └──────┘  └──────┘  └──────┘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推理层 (inference/)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  ├─ AESPredictor: 模型加载、推理调度、反馈生成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  ├─ BertTokenizer: Kotlin原生WordPiece分词器（~100行代码）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  └─ LanguageDetector: 中文字符统计规则（Unicode 一-鿿）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本地资源 (assets/)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  ├─ bert_model.pt（英文，418MB）+ zh_model.pt（中文，391MB）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  └─ vocab.txt（英文词表，30522 tokens）+ zh_vocab.txt（中文词表，21128 tokens）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核心技术栈：Kotlin 2.2 | Compose BOM 2024.09 | PyTorch Mobile 1.13.1 | minSdk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4. Kotlin BERT WordPiece 分词器实现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Android版核心技术亮点：Kotlin 原生 BERT WordPiece 分词器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分词流程：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  1. basicTokenize(): 按空格/标点分词，中文字符逐字切分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  2. wordPieceTokenize(): 贪心最长子词匹配，##前缀标记子词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  3. 序列组装: [CLS] + tokens + [SEP] → LongArray(512)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实现特点：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  • 约100行Kotlin代码，零外部Java NLP库依赖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  • 词表从 assets/vocab.txt 读取（每行一个token），构建 HashMap&lt;String, Int&gt;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  • 中文检测通过Unicode范围 一-鿿 统计中文字符占比（&gt;50% → 中文）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  • 正确的截断保护：remaining = maxLength - 1 - tokens.size，保留[SEP]空间</a:t>
            </a: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</a:p>
          <a:p>
            <a:pPr>
              <a:spcAft>
                <a:spcPts val="1000"/>
              </a:spcAft>
              <a:defRPr sz="1700">
                <a:solidFill>
                  <a:srgbClr val="374151"/>
                </a:solidFill>
              </a:defRPr>
            </a:pPr>
            <a:r>
              <a:t>性能：在手机CPU上，分词+推理总耗时约1-5秒（取决于设备性能）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5. 模型评估结果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645920"/>
          <a:ext cx="94183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1883664"/>
                <a:gridCol w="1883664"/>
                <a:gridCol w="1883664"/>
                <a:gridCol w="1883664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Val QWK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Test QWK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评估方式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BERT-base 英文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0.58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prompt 隔离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更真实的跨题目泛化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BERT-base 中文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随机划分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翻译数据同源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36576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• 英文 QWK 0.58 = prompt隔离条件下的真实泛化能力（训练/测试包含不同题目）</a:t>
            </a:r>
          </a:p>
          <a:p>
            <a:pPr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• 中文 QWK 0.79 = 随机划分，偏高但证明模型可从翻译数据中学习</a:t>
            </a:r>
          </a:p>
          <a:p>
            <a:pPr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• QWK ≥ 0.70 为可接受水平，英文模型在严格评估下仍有提升空间</a:t>
            </a:r>
          </a:p>
          <a:p>
            <a:pPr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• 辅助指标：MAE（平均绝对误差）、Pearson 相关系数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5. 测试策略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单元测试（17项 — pytest）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  • 数据预处理: cleaner, normalizer, splitter, tokenizer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  • API端点: /health, /models, /score, /batch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  • 覆盖正常输入和边界条件（空文本、超长文本、缺失参数）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端到端测试（41项 — Playwright）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  • 自动启动 Flask + Streamlit 服务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  • 在无界面浏览器中执行完整用户操作流程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  • 覆盖 Flask API 全部 4 端点 + Streamlit UI 全部 4 页面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运行：pytest tests/ -v （单元）| python tests/test_e2e.py （E2E）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技术决策记录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决策项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选择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理由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主模型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BERT-base (110M)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8GB显存稳定运行，生态成熟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中文数据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Google Translate 翻译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快速启动，概念验证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分数归一化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按 essay_set 归一化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保持各题目间的可比性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数据划分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Prompt 隔离（英文）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防止题目级数据泄露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Web技术栈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Flask + Streamlit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团队技能栈匹配，快速开发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移动端推理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PyTorch Mobile 本地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离线可用，无需网络和服务器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复杂度边界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不引入数据库/认证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74151"/>
                          </a:solidFill>
                        </a:defRPr>
                      </a:pPr>
                      <a:r>
                        <a:t>聚焦核心评分流水线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6. 项目成果总结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1.  中英文双语BERT自动作文评分模型：英文QWK 0.58 / 中文QWK 0.79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2.  完整的Flask REST API + Streamlit Web UI（4页面，中英文切换）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3.  Android原生App：PyTorch Mobile本地推理，离线可用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4.  Kotlin BERT WordPiece分词器：从零实现，零外部NLP依赖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5.  17项单元测试 + 41项端到端测试覆盖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6.  完整技术文档（架构设计、答辩脚本、Word报告、PPT）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已知限制：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• 中文模型使用翻译数据 → 计划收集真实中文作文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• 维度评分基于启发式拆分 → 预留多任务模型架构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• BERT 512 token限制 → 考虑引入Longformer</a:t>
            </a:r>
          </a:p>
          <a:p>
            <a:pPr>
              <a:spcAft>
                <a:spcPts val="1000"/>
              </a:spcAft>
              <a:defRPr sz="2000">
                <a:solidFill>
                  <a:srgbClr val="374151"/>
                </a:solidFill>
              </a:defRPr>
            </a:pPr>
            <a:r>
              <a:t>• Android双模型~800MB → 考虑INT8量化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